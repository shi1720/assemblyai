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e782f1a5f14667" /><Relationship Type="http://schemas.openxmlformats.org/officeDocument/2006/relationships/extended-properties" Target="/docProps/app.xml" Id="R77fc7871e2544024" /><Relationship Type="http://schemas.openxmlformats.org/officeDocument/2006/relationships/officeDocument" Target="/ppt/presentation.xml" Id="Rf8963a1c1db24d9c" /></Relationships>
</file>

<file path=ppt/presentation.xml><?xml version="1.0" encoding="utf-8"?>
<p:presentation xmlns:p="http://schemas.openxmlformats.org/presentationml/2006/main">
  <p:sldMasterIdLst>
    <p:sldMasterId xmlns:r="http://schemas.openxmlformats.org/officeDocument/2006/relationships" id="2147483648" r:id="R16504715bb444950"/>
  </p:sldMasterIdLst>
  <p:notesMasterIdLst>
    <p:notesMasterId xmlns:r="http://schemas.openxmlformats.org/officeDocument/2006/relationships" r:id="R836ca24c1194430e"/>
  </p:notesMasterIdLst>
  <p:sldIdLst>
    <p:sldId xmlns:r="http://schemas.openxmlformats.org/officeDocument/2006/relationships" id="256" r:id="R981566d721bd408d"/>
    <p:sldId xmlns:r="http://schemas.openxmlformats.org/officeDocument/2006/relationships" id="257" r:id="R2c14b5c710894b99"/>
    <p:sldId xmlns:r="http://schemas.openxmlformats.org/officeDocument/2006/relationships" id="258" r:id="R7dc870e77c1948e5"/>
    <p:sldId xmlns:r="http://schemas.openxmlformats.org/officeDocument/2006/relationships" id="259" r:id="Rf5051f32ba984585"/>
    <p:sldId xmlns:r="http://schemas.openxmlformats.org/officeDocument/2006/relationships" id="260" r:id="Ra6ab037445484a40"/>
    <p:sldId xmlns:r="http://schemas.openxmlformats.org/officeDocument/2006/relationships" id="261" r:id="R7d7fd7548009435d"/>
    <p:sldId xmlns:r="http://schemas.openxmlformats.org/officeDocument/2006/relationships" id="262" r:id="Redf07e5993e040b4"/>
    <p:sldId xmlns:r="http://schemas.openxmlformats.org/officeDocument/2006/relationships" id="263" r:id="Rcda6e8a22e9d4b36"/>
    <p:sldId xmlns:r="http://schemas.openxmlformats.org/officeDocument/2006/relationships" id="264" r:id="R8783a03cb100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06c7e7b24f439d" /><Relationship Type="http://schemas.openxmlformats.org/officeDocument/2006/relationships/slideMaster" Target="/ppt/slideMasters/slideMaster1.xml" Id="R16504715bb444950" /><Relationship Type="http://schemas.openxmlformats.org/officeDocument/2006/relationships/notesMaster" Target="/ppt/notesMasters/notesMaster1.xml" Id="R836ca24c1194430e" /><Relationship Type="http://schemas.openxmlformats.org/officeDocument/2006/relationships/presProps" Target="/ppt/presProps.xml" Id="Rf5d104e62b104257" /><Relationship Type="http://schemas.openxmlformats.org/officeDocument/2006/relationships/tableStyles" Target="/ppt/tableStyles.xml" Id="R46ec3d389bf4496b" /><Relationship Type="http://schemas.openxmlformats.org/officeDocument/2006/relationships/slide" Target="/ppt/slides/slide1.xml" Id="R981566d721bd408d" /><Relationship Type="http://schemas.openxmlformats.org/officeDocument/2006/relationships/slide" Target="/ppt/slides/slide2.xml" Id="R2c14b5c710894b99" /><Relationship Type="http://schemas.openxmlformats.org/officeDocument/2006/relationships/slide" Target="/ppt/slides/slide3.xml" Id="R7dc870e77c1948e5" /><Relationship Type="http://schemas.openxmlformats.org/officeDocument/2006/relationships/slide" Target="/ppt/slides/slide4.xml" Id="Rf5051f32ba984585" /><Relationship Type="http://schemas.openxmlformats.org/officeDocument/2006/relationships/slide" Target="/ppt/slides/slide5.xml" Id="Ra6ab037445484a40" /><Relationship Type="http://schemas.openxmlformats.org/officeDocument/2006/relationships/slide" Target="/ppt/slides/slide6.xml" Id="R7d7fd7548009435d" /><Relationship Type="http://schemas.openxmlformats.org/officeDocument/2006/relationships/slide" Target="/ppt/slides/slide7.xml" Id="Redf07e5993e040b4" /><Relationship Type="http://schemas.openxmlformats.org/officeDocument/2006/relationships/slide" Target="/ppt/slides/slide8.xml" Id="Rcda6e8a22e9d4b36" /><Relationship Type="http://schemas.openxmlformats.org/officeDocument/2006/relationships/slide" Target="/ppt/slides/slide9.xml" Id="R8783a03cb100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ad5f3d90ab4d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53cd81bef4378" /><Relationship Type="http://schemas.openxmlformats.org/officeDocument/2006/relationships/notesMaster" Target="/ppt/notesMasters/notesMaster1.xml" Id="R35979814fc0d46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140b2a9845463f" /><Relationship Type="http://schemas.openxmlformats.org/officeDocument/2006/relationships/notesMaster" Target="/ppt/notesMasters/notesMaster1.xml" Id="R4d81fd342a3749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fcbd77fe5f4bc4" /><Relationship Type="http://schemas.openxmlformats.org/officeDocument/2006/relationships/notesMaster" Target="/ppt/notesMasters/notesMaster1.xml" Id="Rbc1d5521c12147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7b20ccd3ba4bb3" /><Relationship Type="http://schemas.openxmlformats.org/officeDocument/2006/relationships/notesMaster" Target="/ppt/notesMasters/notesMaster1.xml" Id="Rb11901d316594c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6ea2b60d17422d" /><Relationship Type="http://schemas.openxmlformats.org/officeDocument/2006/relationships/notesMaster" Target="/ppt/notesMasters/notesMaster1.xml" Id="R6d16ce74396147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921ddbc5c7494e" /><Relationship Type="http://schemas.openxmlformats.org/officeDocument/2006/relationships/notesMaster" Target="/ppt/notesMasters/notesMaster1.xml" Id="Rd74c0d0a433942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a4b977b054e78" /><Relationship Type="http://schemas.openxmlformats.org/officeDocument/2006/relationships/notesMaster" Target="/ppt/notesMasters/notesMaster1.xml" Id="R975d5482cd134a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747b1adee64ac3" /><Relationship Type="http://schemas.openxmlformats.org/officeDocument/2006/relationships/notesMaster" Target="/ppt/notesMasters/notesMaster1.xml" Id="R8332259e07c44a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d771adac134ec4" /><Relationship Type="http://schemas.openxmlformats.org/officeDocument/2006/relationships/notesMaster" Target="/ppt/notesMasters/notesMaster1.xml" Id="R1b9eccf3bf6848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old part on the shelf is money your shop already paid. Benchback helps independent diesel repair shops recover refundable core deposits. A technician talks through the part at the bench, while the owner or parts manager stays in control of the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deposit is easy to record. Recovering it means matching a used part to a job and invoice, checking supplier rules, returning it before the deadline, and reconciling the credit. Existing software already tracks cores. Our focus is the work between the shelf and the supplier credit.</a:t>
            </a:r>
          </a:p>
          <a:p xmlns:a="http://schemas.openxmlformats.org/drawingml/2006/main">
            <a:r>
              <a:t/>
            </a:r>
          </a:p>
          <a:p xmlns:a="http://schemas.openxmlformats.org/drawingml/2006/main">
            <a:r>
              <a:t>Sources and context</a:t>
            </a:r>
          </a:p>
          <a:p xmlns:a="http://schemas.openxmlformats.org/drawingml/2006/main">
            <a:r>
              <a:t>https://www.fullbay.com/blog/part-cores/</a:t>
            </a:r>
          </a:p>
          <a:p xmlns:a="http://schemas.openxmlformats.org/drawingml/2006/main">
            <a:r>
              <a:t>Fullbay describes part cores and offers native core tracking. No market size, lost-deposit rate, or time-savings claim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our fictional demo, a technician finds alternator ALT-24-160 with a 240-dollar core deposit. Benchback matches work order 418 and invoice 8042. The original box is gone. The configured supplier policy permits an alternate container, but the technician must confirm the part is complete before the manager reviews the return pack. Shipment on July 23 gives a September 21 deadline under the configured sixty-calendar-day rule.</a:t>
            </a:r>
          </a:p>
          <a:p xmlns:a="http://schemas.openxmlformats.org/drawingml/2006/main">
            <a:r>
              <a:t/>
            </a:r>
          </a:p>
          <a:p xmlns:a="http://schemas.openxmlformats.org/drawingml/2006/main">
            <a:r>
              <a:t>Sources and context</a:t>
            </a:r>
          </a:p>
          <a:p xmlns:a="http://schemas.openxmlformats.org/drawingml/2006/main">
            <a:r>
              <a:t>Demo data is fictional. Shipment date: 23 July 2026. Configured return deadline: 21 September 2026. Supplier policies vary. FleetPride publishes a 60-day window from shipment and original packaging OR a quality container placed on a pallet: https://www.fleetpride.com/help/returnwarranty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 is the interface because the technician is handling a dirty part. AssemblyAI’s native Voice Agent API combines speech recognition, reasoning, speech output, and tool calls. Benchback adds the business controls. Tools match evidence, apply the shop’s approved supplier policy, require manager review, and reconcile posted credits. This is the intended architecture. End-to-end live voice behavior still requires validation.</a:t>
            </a:r>
          </a:p>
          <a:p xmlns:a="http://schemas.openxmlformats.org/drawingml/2006/main">
            <a:r>
              <a:t/>
            </a:r>
          </a:p>
          <a:p xmlns:a="http://schemas.openxmlformats.org/drawingml/2006/main">
            <a:r>
              <a:t>Sources and context</a:t>
            </a:r>
          </a:p>
          <a:p xmlns:a="http://schemas.openxmlformats.org/drawingml/2006/main">
            <a:r>
              <a:t>https://www.assemblyai.com/products/voice-agent-api</a:t>
            </a:r>
          </a:p>
          <a:p xmlns:a="http://schemas.openxmlformats.org/drawingml/2006/main">
            <a:r>
              <a:t>Technical design description, not a claim of completed live integration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shipped return is not recovered money. In the demo, credit memo 219 posts only 200 dollars against the expected 240. Benchback leaves a forty-dollar discrepancy open. Credit memo 220 supplies the missing forty, and only then does the ledger close. That distinction prevents an optimistic return pipeline from masquerading as cash recovered.</a:t>
            </a:r>
          </a:p>
          <a:p xmlns:a="http://schemas.openxmlformats.org/drawingml/2006/main">
            <a:r>
              <a:t/>
            </a:r>
          </a:p>
          <a:p xmlns:a="http://schemas.openxmlformats.org/drawingml/2006/main">
            <a:r>
              <a:t>Sources and context</a:t>
            </a:r>
          </a:p>
          <a:p xmlns:a="http://schemas.openxmlformats.org/drawingml/2006/main">
            <a:r>
              <a:t>Fictional credit memos and amounts. FleetPride notes credit may take up to 45 days: https://www.fleetpride.com/help/returnwarranty</a:t>
            </a:r>
          </a:p>
          <a:p xmlns:a="http://schemas.openxmlformats.org/drawingml/2006/main">
            <a:r>
              <a:t>Expected credit must remain separate from actual received supplier credits.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follows both people involved. The technician collects evidence through voice or forms. The parts manager reviews the return pack, records dispatch, and reconciles supplier credits. Account login, an isolated durable workspace, imports and exports, history, and policy configuration support that process. These are product capabilities and implementation scope, not tested production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direct buyer is the independent diesel shop owner or parts manager. Our starting price hypothesis is 99 dollars per location per month, including 200 voice minutes. At AssemblyAI’s published 7.5 cents per minute, those minutes cost fifteen dollars before hosting, support, or other operating costs. Pricing and willingness to pay still need pilot evidence.</a:t>
            </a:r>
          </a:p>
          <a:p xmlns:a="http://schemas.openxmlformats.org/drawingml/2006/main">
            <a:r>
              <a:t/>
            </a:r>
          </a:p>
          <a:p xmlns:a="http://schemas.openxmlformats.org/drawingml/2006/main">
            <a:r>
              <a:t>Sources and context</a:t>
            </a:r>
          </a:p>
          <a:p xmlns:a="http://schemas.openxmlformats.org/drawingml/2006/main">
            <a:r>
              <a:t>https://www.assemblyai.com/products/voice-agent-api</a:t>
            </a:r>
          </a:p>
          <a:p xmlns:a="http://schemas.openxmlformats.org/drawingml/2006/main">
            <a:r>
              <a:t>Calculation: 200 × $0.075 = $15. Proposed price is a hypothesis, not traction or a customer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Fullbay already has native core tracking, so a generic core dashboard is not our claim. Benchback’s proposed wedge is voice capture at the bench, coupled with supplier-specific controls and reconciliation through actual credit. We begin with alternators and starters so we can learn one bounded workflow before expanding.</a:t>
            </a:r>
          </a:p>
          <a:p xmlns:a="http://schemas.openxmlformats.org/drawingml/2006/main">
            <a:r>
              <a:t/>
            </a:r>
          </a:p>
          <a:p xmlns:a="http://schemas.openxmlformats.org/drawingml/2006/main">
            <a:r>
              <a:t>Sources and context</a:t>
            </a:r>
          </a:p>
          <a:p xmlns:a="http://schemas.openxmlformats.org/drawingml/2006/main">
            <a:r>
              <a:t>https://www.fullbay.com/blog/part-cores/</a:t>
            </a:r>
          </a:p>
          <a:p xmlns:a="http://schemas.openxmlformats.org/drawingml/2006/main">
            <a:r>
              <a:t>The differentiation is a product hypothesis. No claim that competitors cannot add voice or reconciliation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step is a small pilot with independent diesel shops. We will validate their actual supplier policies, follow alternator and starter returns, and reconcile the resulting credit memos. Success means received credits with an explainable audit trail. We will also test voice reliability, adoption, and willingness to pay. Benchback brings the money already paid back into view.</a:t>
            </a:r>
          </a:p>
          <a:p xmlns:a="http://schemas.openxmlformats.org/drawingml/2006/main">
            <a:r>
              <a:t/>
            </a:r>
          </a:p>
          <a:p xmlns:a="http://schemas.openxmlformats.org/drawingml/2006/main">
            <a:r>
              <a:t>Sources and context</a:t>
            </a:r>
          </a:p>
          <a:p xmlns:a="http://schemas.openxmlformats.org/drawingml/2006/main">
            <a:r>
              <a:t>Pilot plan only. No current customers, traction, quantified ROI, or time-savings result is asserted. Founder and creator: Shivam Gupta.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9ec82173634b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bc9ec4c1054f5f" /><Relationship Type="http://schemas.openxmlformats.org/officeDocument/2006/relationships/slideLayout" Target="/ppt/slideLayouts/slideLayout1.xml" Id="Rd28099d205934a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8099d205934a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f682b45c484fd3" /><Relationship Type="http://schemas.openxmlformats.org/officeDocument/2006/relationships/notesSlide" Target="/ppt/notesSlides/notesSlide1.xml" Id="R15cac590711b47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7d7bc0630a4f86" /><Relationship Type="http://schemas.openxmlformats.org/officeDocument/2006/relationships/notesSlide" Target="/ppt/notesSlides/notesSlide2.xml" Id="R89a94c6f129a42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fac6fc0bfc41a2" /><Relationship Type="http://schemas.openxmlformats.org/officeDocument/2006/relationships/notesSlide" Target="/ppt/notesSlides/notesSlide3.xml" Id="R0825d0b00b6346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9c8d22c5de4738" /><Relationship Type="http://schemas.openxmlformats.org/officeDocument/2006/relationships/notesSlide" Target="/ppt/notesSlides/notesSlide4.xml" Id="Ra0dbead9be7040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019eb262de4e20" /><Relationship Type="http://schemas.openxmlformats.org/officeDocument/2006/relationships/notesSlide" Target="/ppt/notesSlides/notesSlide5.xml" Id="R4a3b0f5780604e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49dec3e85a4efe" /><Relationship Type="http://schemas.openxmlformats.org/officeDocument/2006/relationships/notesSlide" Target="/ppt/notesSlides/notesSlide6.xml" Id="R7d29edb98e7040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a8e5fab6924459" /><Relationship Type="http://schemas.openxmlformats.org/officeDocument/2006/relationships/notesSlide" Target="/ppt/notesSlides/notesSlide7.xml" Id="R794500de90114f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628d45a5d241bb" /><Relationship Type="http://schemas.openxmlformats.org/officeDocument/2006/relationships/notesSlide" Target="/ppt/notesSlides/notesSlide8.xml" Id="Rba73f7b9f7f048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bcadd51ade4207" /><Relationship Type="http://schemas.openxmlformats.org/officeDocument/2006/relationships/notesSlide" Target="/ppt/notesSlides/notesSlide9.xml" Id="R3b496ba072464a5d" /></Relationships>
</file>

<file path=ppt/slides/slide1.xml><?xml version="1.0" encoding="utf-8"?>
<p:sld xmlns:p="http://schemas.openxmlformats.org/presentationml/2006/main">
  <p:cSld>
    <p:bg>
      <p:bgPr>
        <a:solidFill xmlns:a="http://schemas.openxmlformats.org/drawingml/2006/main">
          <a:srgbClr val="141B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5DD8D5-1303-415D-88C6-34D3299BD8C6}"/>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DA8BD"/>
                </a:solidFill>
                <a:latin typeface="Arial"/>
                <a:ea typeface="Arial"/>
                <a:cs typeface="Arial"/>
              </a:defRPr>
            </a:pPr>
            <a:r>
              <a:rPr sz="1200" b="0">
                <a:solidFill>
                  <a:srgbClr val="9DA8BD"/>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CCDCB4B9-A87A-4155-AE67-8407D98071AC}"/>
              </a:ext>
            </a:extLst>
          </p:cNvPr>
          <p:cNvSpPr>
            <a:spLocks xmlns:a="http://schemas.openxmlformats.org/drawingml/2006/main" noGrp="1"/>
          </p:cNvSpPr>
          <p:nvPr/>
        </p:nvSpPr>
        <p:spPr>
          <a:xfrm xmlns:a="http://schemas.openxmlformats.org/drawingml/2006/main">
            <a:off x="609600" y="590550"/>
            <a:ext cx="857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Benchback</a:t>
            </a:r>
          </a:p>
        </p:txBody>
      </p:sp>
      <p:sp>
        <p:nvSpPr>
          <p:cNvPr id="3" name="">
            <a:extLst xmlns:a="http://schemas.openxmlformats.org/drawingml/2006/main">
              <a:ext uri="{FF2B5EF4-FFF2-40B4-BE49-F238E27FC236}">
                <a16:creationId xmlns:a16="http://schemas.microsoft.com/office/drawing/2014/main" id="{B3744012-1E65-446A-B3ED-E3CA2C5F6CE1}"/>
              </a:ext>
            </a:extLst>
          </p:cNvPr>
          <p:cNvSpPr>
            <a:spLocks xmlns:a="http://schemas.openxmlformats.org/drawingml/2006/main" noGrp="1"/>
          </p:cNvSpPr>
          <p:nvPr/>
        </p:nvSpPr>
        <p:spPr>
          <a:xfrm xmlns:a="http://schemas.openxmlformats.org/drawingml/2006/main">
            <a:off x="609600" y="25717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C5EF69"/>
                </a:solidFill>
                <a:latin typeface="Arial"/>
                <a:ea typeface="Arial"/>
                <a:cs typeface="Arial"/>
              </a:defRPr>
            </a:pPr>
            <a:r>
              <a:rPr sz="3900" b="1">
                <a:solidFill>
                  <a:srgbClr val="C5EF69"/>
                </a:solidFill>
                <a:latin typeface="Arial"/>
                <a:ea typeface="Arial"/>
                <a:cs typeface="Arial"/>
              </a:rPr>
              <a:t>That old part on the shelf is money</a:t>
            </a:r>
          </a:p>
          <a:p xmlns:a="http://schemas.openxmlformats.org/drawingml/2006/main">
            <a:pPr>
              <a:defRPr sz="3900" b="1">
                <a:solidFill>
                  <a:srgbClr val="C5EF69"/>
                </a:solidFill>
                <a:latin typeface="Arial"/>
                <a:ea typeface="Arial"/>
                <a:cs typeface="Arial"/>
              </a:defRPr>
            </a:pPr>
            <a:r>
              <a:rPr sz="3900" b="1">
                <a:solidFill>
                  <a:srgbClr val="C5EF69"/>
                </a:solidFill>
                <a:latin typeface="Arial"/>
                <a:ea typeface="Arial"/>
                <a:cs typeface="Arial"/>
              </a:rPr>
              <a:t>your shop already paid.</a:t>
            </a:r>
          </a:p>
        </p:txBody>
      </p:sp>
      <p:sp>
        <p:nvSpPr>
          <p:cNvPr id="4" name="">
            <a:extLst xmlns:a="http://schemas.openxmlformats.org/drawingml/2006/main">
              <a:ext uri="{FF2B5EF4-FFF2-40B4-BE49-F238E27FC236}">
                <a16:creationId xmlns:a16="http://schemas.microsoft.com/office/drawing/2014/main" id="{FB79F546-878A-4E6F-88E6-693A2E2AB667}"/>
              </a:ext>
            </a:extLst>
          </p:cNvPr>
          <p:cNvSpPr>
            <a:spLocks xmlns:a="http://schemas.openxmlformats.org/drawingml/2006/main" noGrp="1"/>
          </p:cNvSpPr>
          <p:nvPr/>
        </p:nvSpPr>
        <p:spPr>
          <a:xfrm xmlns:a="http://schemas.openxmlformats.org/drawingml/2006/main">
            <a:off x="609600" y="4810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9EDF3"/>
                </a:solidFill>
                <a:latin typeface="Arial"/>
                <a:ea typeface="Arial"/>
                <a:cs typeface="Arial"/>
              </a:defRPr>
            </a:pPr>
            <a:r>
              <a:rPr sz="2100" b="0">
                <a:solidFill>
                  <a:srgbClr val="E9EDF3"/>
                </a:solidFill>
                <a:latin typeface="Arial"/>
                <a:ea typeface="Arial"/>
                <a:cs typeface="Arial"/>
              </a:rPr>
              <a:t>A voice agent for diesel shops to recover parts core deposits</a:t>
            </a:r>
          </a:p>
        </p:txBody>
      </p:sp>
      <p:sp>
        <p:nvSpPr>
          <p:cNvPr id="5" name="">
            <a:extLst xmlns:a="http://schemas.openxmlformats.org/drawingml/2006/main">
              <a:ext uri="{FF2B5EF4-FFF2-40B4-BE49-F238E27FC236}">
                <a16:creationId xmlns:a16="http://schemas.microsoft.com/office/drawing/2014/main" id="{98CB58B3-9E39-4B88-B91C-B176C8C2BA53}"/>
              </a:ext>
            </a:extLst>
          </p:cNvPr>
          <p:cNvSpPr>
            <a:spLocks xmlns:a="http://schemas.openxmlformats.org/drawingml/2006/main" noGrp="1"/>
          </p:cNvSpPr>
          <p:nvPr/>
        </p:nvSpPr>
        <p:spPr>
          <a:xfrm xmlns:a="http://schemas.openxmlformats.org/drawingml/2006/main">
            <a:off x="609600" y="605790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DA8BD"/>
                </a:solidFill>
                <a:latin typeface="Arial"/>
                <a:ea typeface="Arial"/>
                <a:cs typeface="Arial"/>
              </a:defRPr>
            </a:pPr>
            <a:r>
              <a:rPr sz="1575" b="0">
                <a:solidFill>
                  <a:srgbClr val="9DA8BD"/>
                </a:solidFill>
                <a:latin typeface="Arial"/>
                <a:ea typeface="Arial"/>
                <a:cs typeface="Arial"/>
              </a:rPr>
              <a:t>Shivam Gupta</a:t>
            </a:r>
          </a:p>
        </p:txBody>
      </p:sp>
    </p:spTree>
    <p:extLst>
      <p:ext uri="{BB962C8B-B14F-4D97-AF65-F5344CB8AC3E}">
        <p14:creationId xmlns:p14="http://schemas.microsoft.com/office/powerpoint/2010/main" val="845543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871FF7B-613F-43BE-A38F-D8EB5FEE3BB5}"/>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1B2D"/>
                </a:solidFill>
                <a:latin typeface="Arial"/>
                <a:ea typeface="Arial"/>
                <a:cs typeface="Arial"/>
              </a:defRPr>
            </a:pPr>
            <a:r>
              <a:rPr sz="3600" b="1">
                <a:solidFill>
                  <a:srgbClr val="141B2D"/>
                </a:solidFill>
                <a:latin typeface="Arial"/>
                <a:ea typeface="Arial"/>
                <a:cs typeface="Arial"/>
              </a:rPr>
              <a:t>A return is a chain of unfinished work</a:t>
            </a:r>
          </a:p>
        </p:txBody>
      </p:sp>
      <p:sp>
        <p:nvSpPr>
          <p:cNvPr id="2" name="">
            <a:extLst xmlns:a="http://schemas.openxmlformats.org/drawingml/2006/main">
              <a:ext uri="{FF2B5EF4-FFF2-40B4-BE49-F238E27FC236}">
                <a16:creationId xmlns:a16="http://schemas.microsoft.com/office/drawing/2014/main" id="{ACBF3C82-616A-4F40-A48A-3498575096BB}"/>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3448"/>
                </a:solidFill>
                <a:latin typeface="Arial"/>
                <a:ea typeface="Arial"/>
                <a:cs typeface="Arial"/>
              </a:defRPr>
            </a:pPr>
            <a:r>
              <a:rPr sz="1200" b="0">
                <a:solidFill>
                  <a:srgbClr val="29344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09C8800-80C4-4248-9666-833CA00D94B8}"/>
              </a:ext>
            </a:extLst>
          </p:cNvPr>
          <p:cNvSpPr>
            <a:spLocks xmlns:a="http://schemas.openxmlformats.org/drawingml/2006/main" noGrp="1"/>
          </p:cNvSpPr>
          <p:nvPr/>
        </p:nvSpPr>
        <p:spPr>
          <a:xfrm xmlns:a="http://schemas.openxmlformats.org/drawingml/2006/main">
            <a:off x="609600" y="16002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1B2D"/>
                </a:solidFill>
                <a:latin typeface="Arial"/>
                <a:ea typeface="Arial"/>
                <a:cs typeface="Arial"/>
              </a:defRPr>
            </a:pPr>
            <a:r>
              <a:rPr sz="2250" b="0">
                <a:solidFill>
                  <a:srgbClr val="141B2D"/>
                </a:solidFill>
                <a:latin typeface="Arial"/>
                <a:ea typeface="Arial"/>
                <a:cs typeface="Arial"/>
              </a:rPr>
              <a:t>A core deposit comes back only after the old part meets the supplier’s return terms.</a:t>
            </a:r>
          </a:p>
        </p:txBody>
      </p:sp>
      <p:sp>
        <p:nvSpPr>
          <p:cNvPr id="4" name="">
            <a:extLst xmlns:a="http://schemas.openxmlformats.org/drawingml/2006/main">
              <a:ext uri="{FF2B5EF4-FFF2-40B4-BE49-F238E27FC236}">
                <a16:creationId xmlns:a16="http://schemas.microsoft.com/office/drawing/2014/main" id="{63920609-FD19-4BC8-95D9-B122DF12C363}"/>
              </a:ext>
            </a:extLst>
          </p:cNvPr>
          <p:cNvSpPr>
            <a:spLocks xmlns:a="http://schemas.openxmlformats.org/drawingml/2006/main" noGrp="1"/>
          </p:cNvSpPr>
          <p:nvPr/>
        </p:nvSpPr>
        <p:spPr>
          <a:xfrm xmlns:a="http://schemas.openxmlformats.org/drawingml/2006/main">
            <a:off x="609600" y="291465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859E6"/>
                </a:solidFill>
                <a:latin typeface="Arial"/>
                <a:ea typeface="Arial"/>
                <a:cs typeface="Arial"/>
              </a:defRPr>
            </a:pPr>
            <a:r>
              <a:rPr sz="3300" b="1">
                <a:solidFill>
                  <a:srgbClr val="2859E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7EED69F-D1D9-4891-902D-A3071F812B31}"/>
              </a:ext>
            </a:extLst>
          </p:cNvPr>
          <p:cNvSpPr>
            <a:spLocks xmlns:a="http://schemas.openxmlformats.org/drawingml/2006/main" noGrp="1"/>
          </p:cNvSpPr>
          <p:nvPr/>
        </p:nvSpPr>
        <p:spPr>
          <a:xfrm xmlns:a="http://schemas.openxmlformats.org/drawingml/2006/main">
            <a:off x="609600" y="3724275"/>
            <a:ext cx="228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B2D"/>
                </a:solidFill>
                <a:latin typeface="Arial"/>
                <a:ea typeface="Arial"/>
                <a:cs typeface="Arial"/>
              </a:defRPr>
            </a:pPr>
            <a:r>
              <a:rPr sz="2100" b="1">
                <a:solidFill>
                  <a:srgbClr val="141B2D"/>
                </a:solidFill>
                <a:latin typeface="Arial"/>
                <a:ea typeface="Arial"/>
                <a:cs typeface="Arial"/>
              </a:rPr>
              <a:t>Deposit paid</a:t>
            </a:r>
          </a:p>
        </p:txBody>
      </p:sp>
      <p:sp>
        <p:nvSpPr>
          <p:cNvPr id="6" name="">
            <a:extLst xmlns:a="http://schemas.openxmlformats.org/drawingml/2006/main">
              <a:ext uri="{FF2B5EF4-FFF2-40B4-BE49-F238E27FC236}">
                <a16:creationId xmlns:a16="http://schemas.microsoft.com/office/drawing/2014/main" id="{FF5F1232-86AB-438B-AE34-84BA826CB505}"/>
              </a:ext>
            </a:extLst>
          </p:cNvPr>
          <p:cNvSpPr>
            <a:spLocks xmlns:a="http://schemas.openxmlformats.org/drawingml/2006/main" noGrp="1"/>
          </p:cNvSpPr>
          <p:nvPr/>
        </p:nvSpPr>
        <p:spPr>
          <a:xfrm xmlns:a="http://schemas.openxmlformats.org/drawingml/2006/main">
            <a:off x="609600" y="4276725"/>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Invoice and job</a:t>
            </a:r>
          </a:p>
        </p:txBody>
      </p:sp>
      <p:sp>
        <p:nvSpPr>
          <p:cNvPr id="7" name="">
            <a:extLst xmlns:a="http://schemas.openxmlformats.org/drawingml/2006/main">
              <a:ext uri="{FF2B5EF4-FFF2-40B4-BE49-F238E27FC236}">
                <a16:creationId xmlns:a16="http://schemas.microsoft.com/office/drawing/2014/main" id="{F3836483-11B9-425F-8C35-B356D721F4F2}"/>
              </a:ext>
            </a:extLst>
          </p:cNvPr>
          <p:cNvSpPr>
            <a:spLocks xmlns:a="http://schemas.openxmlformats.org/drawingml/2006/main" noGrp="1"/>
          </p:cNvSpPr>
          <p:nvPr/>
        </p:nvSpPr>
        <p:spPr>
          <a:xfrm xmlns:a="http://schemas.openxmlformats.org/drawingml/2006/main">
            <a:off x="1847850" y="3181350"/>
            <a:ext cx="1238250" cy="9525"/>
          </a:xfrm>
          <a:prstGeom xmlns:a="http://schemas.openxmlformats.org/drawingml/2006/main" prst="rect">
            <a:avLst/>
          </a:prstGeom>
          <a:solidFill xmlns:a="http://schemas.openxmlformats.org/drawingml/2006/main">
            <a:srgbClr val="9DA8BD"/>
          </a:solidFill>
          <a:ln xmlns:a="http://schemas.openxmlformats.org/drawingml/2006/main" w="9525">
            <a:solidFill>
              <a:srgbClr val="9DA8BD"/>
            </a:solidFill>
          </a:ln>
        </p:spPr>
      </p:sp>
      <p:sp>
        <p:nvSpPr>
          <p:cNvPr id="8" name="">
            <a:extLst xmlns:a="http://schemas.openxmlformats.org/drawingml/2006/main">
              <a:ext uri="{FF2B5EF4-FFF2-40B4-BE49-F238E27FC236}">
                <a16:creationId xmlns:a16="http://schemas.microsoft.com/office/drawing/2014/main" id="{9FB02CE4-6CBD-48B1-9D48-F3CD9867A014}"/>
              </a:ext>
            </a:extLst>
          </p:cNvPr>
          <p:cNvSpPr>
            <a:spLocks xmlns:a="http://schemas.openxmlformats.org/drawingml/2006/main" noGrp="1"/>
          </p:cNvSpPr>
          <p:nvPr/>
        </p:nvSpPr>
        <p:spPr>
          <a:xfrm xmlns:a="http://schemas.openxmlformats.org/drawingml/2006/main">
            <a:off x="3371850" y="291465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859E6"/>
                </a:solidFill>
                <a:latin typeface="Arial"/>
                <a:ea typeface="Arial"/>
                <a:cs typeface="Arial"/>
              </a:defRPr>
            </a:pPr>
            <a:r>
              <a:rPr sz="3300" b="1">
                <a:solidFill>
                  <a:srgbClr val="2859E6"/>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547A93B-8331-4046-B83F-C4DD366013F7}"/>
              </a:ext>
            </a:extLst>
          </p:cNvPr>
          <p:cNvSpPr>
            <a:spLocks xmlns:a="http://schemas.openxmlformats.org/drawingml/2006/main" noGrp="1"/>
          </p:cNvSpPr>
          <p:nvPr/>
        </p:nvSpPr>
        <p:spPr>
          <a:xfrm xmlns:a="http://schemas.openxmlformats.org/drawingml/2006/main">
            <a:off x="3371850" y="3724275"/>
            <a:ext cx="228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B2D"/>
                </a:solidFill>
                <a:latin typeface="Arial"/>
                <a:ea typeface="Arial"/>
                <a:cs typeface="Arial"/>
              </a:defRPr>
            </a:pPr>
            <a:r>
              <a:rPr sz="2100" b="1">
                <a:solidFill>
                  <a:srgbClr val="141B2D"/>
                </a:solidFill>
                <a:latin typeface="Arial"/>
                <a:ea typeface="Arial"/>
                <a:cs typeface="Arial"/>
              </a:rPr>
              <a:t>Core on shelf</a:t>
            </a:r>
          </a:p>
        </p:txBody>
      </p:sp>
      <p:sp>
        <p:nvSpPr>
          <p:cNvPr id="10" name="">
            <a:extLst xmlns:a="http://schemas.openxmlformats.org/drawingml/2006/main">
              <a:ext uri="{FF2B5EF4-FFF2-40B4-BE49-F238E27FC236}">
                <a16:creationId xmlns:a16="http://schemas.microsoft.com/office/drawing/2014/main" id="{8B15FEE7-F4D6-4C78-8A14-6327490879F4}"/>
              </a:ext>
            </a:extLst>
          </p:cNvPr>
          <p:cNvSpPr>
            <a:spLocks xmlns:a="http://schemas.openxmlformats.org/drawingml/2006/main" noGrp="1"/>
          </p:cNvSpPr>
          <p:nvPr/>
        </p:nvSpPr>
        <p:spPr>
          <a:xfrm xmlns:a="http://schemas.openxmlformats.org/drawingml/2006/main">
            <a:off x="3371850" y="4276725"/>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Part identity</a:t>
            </a:r>
          </a:p>
        </p:txBody>
      </p:sp>
      <p:sp>
        <p:nvSpPr>
          <p:cNvPr id="11" name="">
            <a:extLst xmlns:a="http://schemas.openxmlformats.org/drawingml/2006/main">
              <a:ext uri="{FF2B5EF4-FFF2-40B4-BE49-F238E27FC236}">
                <a16:creationId xmlns:a16="http://schemas.microsoft.com/office/drawing/2014/main" id="{46738BAA-F026-42B5-89EB-73E166E9B97A}"/>
              </a:ext>
            </a:extLst>
          </p:cNvPr>
          <p:cNvSpPr>
            <a:spLocks xmlns:a="http://schemas.openxmlformats.org/drawingml/2006/main" noGrp="1"/>
          </p:cNvSpPr>
          <p:nvPr/>
        </p:nvSpPr>
        <p:spPr>
          <a:xfrm xmlns:a="http://schemas.openxmlformats.org/drawingml/2006/main">
            <a:off x="4610100" y="3181350"/>
            <a:ext cx="1238250" cy="9525"/>
          </a:xfrm>
          <a:prstGeom xmlns:a="http://schemas.openxmlformats.org/drawingml/2006/main" prst="rect">
            <a:avLst/>
          </a:prstGeom>
          <a:solidFill xmlns:a="http://schemas.openxmlformats.org/drawingml/2006/main">
            <a:srgbClr val="9DA8BD"/>
          </a:solidFill>
          <a:ln xmlns:a="http://schemas.openxmlformats.org/drawingml/2006/main" w="9525">
            <a:solidFill>
              <a:srgbClr val="9DA8BD"/>
            </a:solidFill>
          </a:ln>
        </p:spPr>
      </p:sp>
      <p:sp>
        <p:nvSpPr>
          <p:cNvPr id="12" name="">
            <a:extLst xmlns:a="http://schemas.openxmlformats.org/drawingml/2006/main">
              <a:ext uri="{FF2B5EF4-FFF2-40B4-BE49-F238E27FC236}">
                <a16:creationId xmlns:a16="http://schemas.microsoft.com/office/drawing/2014/main" id="{78965366-D133-4D28-AC01-CCF3416F7D24}"/>
              </a:ext>
            </a:extLst>
          </p:cNvPr>
          <p:cNvSpPr>
            <a:spLocks xmlns:a="http://schemas.openxmlformats.org/drawingml/2006/main" noGrp="1"/>
          </p:cNvSpPr>
          <p:nvPr/>
        </p:nvSpPr>
        <p:spPr>
          <a:xfrm xmlns:a="http://schemas.openxmlformats.org/drawingml/2006/main">
            <a:off x="6134100" y="291465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859E6"/>
                </a:solidFill>
                <a:latin typeface="Arial"/>
                <a:ea typeface="Arial"/>
                <a:cs typeface="Arial"/>
              </a:defRPr>
            </a:pPr>
            <a:r>
              <a:rPr sz="3300" b="1">
                <a:solidFill>
                  <a:srgbClr val="2859E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7B33522-4BF0-4AAA-8439-BDF5C1E17715}"/>
              </a:ext>
            </a:extLst>
          </p:cNvPr>
          <p:cNvSpPr>
            <a:spLocks xmlns:a="http://schemas.openxmlformats.org/drawingml/2006/main" noGrp="1"/>
          </p:cNvSpPr>
          <p:nvPr/>
        </p:nvSpPr>
        <p:spPr>
          <a:xfrm xmlns:a="http://schemas.openxmlformats.org/drawingml/2006/main">
            <a:off x="6134100" y="3724275"/>
            <a:ext cx="228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B2D"/>
                </a:solidFill>
                <a:latin typeface="Arial"/>
                <a:ea typeface="Arial"/>
                <a:cs typeface="Arial"/>
              </a:defRPr>
            </a:pPr>
            <a:r>
              <a:rPr sz="2100" b="1">
                <a:solidFill>
                  <a:srgbClr val="141B2D"/>
                </a:solidFill>
                <a:latin typeface="Arial"/>
                <a:ea typeface="Arial"/>
                <a:cs typeface="Arial"/>
              </a:rPr>
              <a:t>Return accepted</a:t>
            </a:r>
          </a:p>
        </p:txBody>
      </p:sp>
      <p:sp>
        <p:nvSpPr>
          <p:cNvPr id="14" name="">
            <a:extLst xmlns:a="http://schemas.openxmlformats.org/drawingml/2006/main">
              <a:ext uri="{FF2B5EF4-FFF2-40B4-BE49-F238E27FC236}">
                <a16:creationId xmlns:a16="http://schemas.microsoft.com/office/drawing/2014/main" id="{E6CEAAA3-9574-4775-B954-0D4428490A88}"/>
              </a:ext>
            </a:extLst>
          </p:cNvPr>
          <p:cNvSpPr>
            <a:spLocks xmlns:a="http://schemas.openxmlformats.org/drawingml/2006/main" noGrp="1"/>
          </p:cNvSpPr>
          <p:nvPr/>
        </p:nvSpPr>
        <p:spPr>
          <a:xfrm xmlns:a="http://schemas.openxmlformats.org/drawingml/2006/main">
            <a:off x="6134100" y="4276725"/>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Supplier policy</a:t>
            </a:r>
          </a:p>
        </p:txBody>
      </p:sp>
      <p:sp>
        <p:nvSpPr>
          <p:cNvPr id="15" name="">
            <a:extLst xmlns:a="http://schemas.openxmlformats.org/drawingml/2006/main">
              <a:ext uri="{FF2B5EF4-FFF2-40B4-BE49-F238E27FC236}">
                <a16:creationId xmlns:a16="http://schemas.microsoft.com/office/drawing/2014/main" id="{5867A9FA-DFB9-4E5C-B93F-723C1D8D85F4}"/>
              </a:ext>
            </a:extLst>
          </p:cNvPr>
          <p:cNvSpPr>
            <a:spLocks xmlns:a="http://schemas.openxmlformats.org/drawingml/2006/main" noGrp="1"/>
          </p:cNvSpPr>
          <p:nvPr/>
        </p:nvSpPr>
        <p:spPr>
          <a:xfrm xmlns:a="http://schemas.openxmlformats.org/drawingml/2006/main">
            <a:off x="7372350" y="3181350"/>
            <a:ext cx="1238250" cy="9525"/>
          </a:xfrm>
          <a:prstGeom xmlns:a="http://schemas.openxmlformats.org/drawingml/2006/main" prst="rect">
            <a:avLst/>
          </a:prstGeom>
          <a:solidFill xmlns:a="http://schemas.openxmlformats.org/drawingml/2006/main">
            <a:srgbClr val="9DA8BD"/>
          </a:solidFill>
          <a:ln xmlns:a="http://schemas.openxmlformats.org/drawingml/2006/main" w="9525">
            <a:solidFill>
              <a:srgbClr val="9DA8BD"/>
            </a:solidFill>
          </a:ln>
        </p:spPr>
      </p:sp>
      <p:sp>
        <p:nvSpPr>
          <p:cNvPr id="16" name="">
            <a:extLst xmlns:a="http://schemas.openxmlformats.org/drawingml/2006/main">
              <a:ext uri="{FF2B5EF4-FFF2-40B4-BE49-F238E27FC236}">
                <a16:creationId xmlns:a16="http://schemas.microsoft.com/office/drawing/2014/main" id="{02BCD1D8-ADDB-41B1-948C-C47687B0E342}"/>
              </a:ext>
            </a:extLst>
          </p:cNvPr>
          <p:cNvSpPr>
            <a:spLocks xmlns:a="http://schemas.openxmlformats.org/drawingml/2006/main" noGrp="1"/>
          </p:cNvSpPr>
          <p:nvPr/>
        </p:nvSpPr>
        <p:spPr>
          <a:xfrm xmlns:a="http://schemas.openxmlformats.org/drawingml/2006/main">
            <a:off x="8896350" y="291465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859E6"/>
                </a:solidFill>
                <a:latin typeface="Arial"/>
                <a:ea typeface="Arial"/>
                <a:cs typeface="Arial"/>
              </a:defRPr>
            </a:pPr>
            <a:r>
              <a:rPr sz="3300" b="1">
                <a:solidFill>
                  <a:srgbClr val="2859E6"/>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76EDAD0F-D4E9-407E-9FB7-716D2D4D95F8}"/>
              </a:ext>
            </a:extLst>
          </p:cNvPr>
          <p:cNvSpPr>
            <a:spLocks xmlns:a="http://schemas.openxmlformats.org/drawingml/2006/main" noGrp="1"/>
          </p:cNvSpPr>
          <p:nvPr/>
        </p:nvSpPr>
        <p:spPr>
          <a:xfrm xmlns:a="http://schemas.openxmlformats.org/drawingml/2006/main">
            <a:off x="8896350" y="3724275"/>
            <a:ext cx="228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B2D"/>
                </a:solidFill>
                <a:latin typeface="Arial"/>
                <a:ea typeface="Arial"/>
                <a:cs typeface="Arial"/>
              </a:defRPr>
            </a:pPr>
            <a:r>
              <a:rPr sz="2100" b="1">
                <a:solidFill>
                  <a:srgbClr val="141B2D"/>
                </a:solidFill>
                <a:latin typeface="Arial"/>
                <a:ea typeface="Arial"/>
                <a:cs typeface="Arial"/>
              </a:rPr>
              <a:t>Credit received</a:t>
            </a:r>
          </a:p>
        </p:txBody>
      </p:sp>
      <p:sp>
        <p:nvSpPr>
          <p:cNvPr id="18" name="">
            <a:extLst xmlns:a="http://schemas.openxmlformats.org/drawingml/2006/main">
              <a:ext uri="{FF2B5EF4-FFF2-40B4-BE49-F238E27FC236}">
                <a16:creationId xmlns:a16="http://schemas.microsoft.com/office/drawing/2014/main" id="{3B5C092B-DEE7-4B11-A60D-327C50CE0831}"/>
              </a:ext>
            </a:extLst>
          </p:cNvPr>
          <p:cNvSpPr>
            <a:spLocks xmlns:a="http://schemas.openxmlformats.org/drawingml/2006/main" noGrp="1"/>
          </p:cNvSpPr>
          <p:nvPr/>
        </p:nvSpPr>
        <p:spPr>
          <a:xfrm xmlns:a="http://schemas.openxmlformats.org/drawingml/2006/main">
            <a:off x="8896350" y="4276725"/>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Credit memo</a:t>
            </a:r>
          </a:p>
        </p:txBody>
      </p:sp>
      <p:sp>
        <p:nvSpPr>
          <p:cNvPr id="19" name="">
            <a:extLst xmlns:a="http://schemas.openxmlformats.org/drawingml/2006/main">
              <a:ext uri="{FF2B5EF4-FFF2-40B4-BE49-F238E27FC236}">
                <a16:creationId xmlns:a16="http://schemas.microsoft.com/office/drawing/2014/main" id="{9B5F143C-5B94-4BAA-83C3-FE3BE6185004}"/>
              </a:ext>
            </a:extLst>
          </p:cNvPr>
          <p:cNvSpPr>
            <a:spLocks xmlns:a="http://schemas.openxmlformats.org/drawingml/2006/main" noGrp="1"/>
          </p:cNvSpPr>
          <p:nvPr/>
        </p:nvSpPr>
        <p:spPr>
          <a:xfrm xmlns:a="http://schemas.openxmlformats.org/drawingml/2006/main">
            <a:off x="609600" y="5505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1B2D"/>
                </a:solidFill>
                <a:latin typeface="Arial"/>
                <a:ea typeface="Arial"/>
                <a:cs typeface="Arial"/>
              </a:defRPr>
            </a:pPr>
            <a:r>
              <a:rPr sz="2250" b="1">
                <a:solidFill>
                  <a:srgbClr val="141B2D"/>
                </a:solidFill>
                <a:latin typeface="Arial"/>
                <a:ea typeface="Arial"/>
                <a:cs typeface="Arial"/>
              </a:rPr>
              <a:t>The gap: bench evidence, return paperwork, and the final supplier credit.</a:t>
            </a:r>
          </a:p>
        </p:txBody>
      </p:sp>
    </p:spTree>
    <p:extLst>
      <p:ext uri="{BB962C8B-B14F-4D97-AF65-F5344CB8AC3E}">
        <p14:creationId xmlns:p14="http://schemas.microsoft.com/office/powerpoint/2010/main" val="18046831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F8F50C5-ECA3-42EE-9780-EACD64237715}"/>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1B2D"/>
                </a:solidFill>
                <a:latin typeface="Arial"/>
                <a:ea typeface="Arial"/>
                <a:cs typeface="Arial"/>
              </a:defRPr>
            </a:pPr>
            <a:r>
              <a:rPr sz="3600" b="1">
                <a:solidFill>
                  <a:srgbClr val="141B2D"/>
                </a:solidFill>
                <a:latin typeface="Arial"/>
                <a:ea typeface="Arial"/>
                <a:cs typeface="Arial"/>
              </a:rPr>
              <a:t>One alternator. A complete demo chain</a:t>
            </a:r>
          </a:p>
        </p:txBody>
      </p:sp>
      <p:sp>
        <p:nvSpPr>
          <p:cNvPr id="2" name="">
            <a:extLst xmlns:a="http://schemas.openxmlformats.org/drawingml/2006/main">
              <a:ext uri="{FF2B5EF4-FFF2-40B4-BE49-F238E27FC236}">
                <a16:creationId xmlns:a16="http://schemas.microsoft.com/office/drawing/2014/main" id="{F1590EC1-85F8-4B35-BD3A-69D8F2DF211F}"/>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3448"/>
                </a:solidFill>
                <a:latin typeface="Arial"/>
                <a:ea typeface="Arial"/>
                <a:cs typeface="Arial"/>
              </a:defRPr>
            </a:pPr>
            <a:r>
              <a:rPr sz="1200" b="0">
                <a:solidFill>
                  <a:srgbClr val="29344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ED1491C-0437-464F-886F-186B6AB49E72}"/>
              </a:ext>
            </a:extLst>
          </p:cNvPr>
          <p:cNvSpPr>
            <a:spLocks xmlns:a="http://schemas.openxmlformats.org/drawingml/2006/main" noGrp="1"/>
          </p:cNvSpPr>
          <p:nvPr/>
        </p:nvSpPr>
        <p:spPr>
          <a:xfrm xmlns:a="http://schemas.openxmlformats.org/drawingml/2006/main">
            <a:off x="609600" y="15716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Fictional demo: Pine Ridge Diesel / Northline Parts</a:t>
            </a:r>
          </a:p>
        </p:txBody>
      </p:sp>
      <p:sp>
        <p:nvSpPr>
          <p:cNvPr id="4" name="">
            <a:extLst xmlns:a="http://schemas.openxmlformats.org/drawingml/2006/main">
              <a:ext uri="{FF2B5EF4-FFF2-40B4-BE49-F238E27FC236}">
                <a16:creationId xmlns:a16="http://schemas.microsoft.com/office/drawing/2014/main" id="{E9E2698A-3F2E-4571-8DA0-0E2770A49742}"/>
              </a:ext>
            </a:extLst>
          </p:cNvPr>
          <p:cNvSpPr>
            <a:spLocks xmlns:a="http://schemas.openxmlformats.org/drawingml/2006/main" noGrp="1"/>
          </p:cNvSpPr>
          <p:nvPr/>
        </p:nvSpPr>
        <p:spPr>
          <a:xfrm xmlns:a="http://schemas.openxmlformats.org/drawingml/2006/main">
            <a:off x="609600" y="2495550"/>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2859E6"/>
                </a:solidFill>
                <a:latin typeface="Arial"/>
                <a:ea typeface="Arial"/>
                <a:cs typeface="Arial"/>
              </a:defRPr>
            </a:pPr>
            <a:r>
              <a:rPr sz="3675" b="1">
                <a:solidFill>
                  <a:srgbClr val="2859E6"/>
                </a:solidFill>
                <a:latin typeface="Arial"/>
                <a:ea typeface="Arial"/>
                <a:cs typeface="Arial"/>
              </a:rPr>
              <a:t>“The original box is gone.”</a:t>
            </a:r>
          </a:p>
        </p:txBody>
      </p:sp>
      <p:sp>
        <p:nvSpPr>
          <p:cNvPr id="5" name="">
            <a:extLst xmlns:a="http://schemas.openxmlformats.org/drawingml/2006/main">
              <a:ext uri="{FF2B5EF4-FFF2-40B4-BE49-F238E27FC236}">
                <a16:creationId xmlns:a16="http://schemas.microsoft.com/office/drawing/2014/main" id="{643CDADC-4032-4709-933A-6995BCD6466A}"/>
              </a:ext>
            </a:extLst>
          </p:cNvPr>
          <p:cNvSpPr>
            <a:spLocks xmlns:a="http://schemas.openxmlformats.org/drawingml/2006/main" noGrp="1"/>
          </p:cNvSpPr>
          <p:nvPr/>
        </p:nvSpPr>
        <p:spPr>
          <a:xfrm xmlns:a="http://schemas.openxmlformats.org/drawingml/2006/main">
            <a:off x="609600" y="41719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1B2D"/>
                </a:solidFill>
                <a:latin typeface="Arial"/>
                <a:ea typeface="Arial"/>
                <a:cs typeface="Arial"/>
              </a:defRPr>
            </a:pPr>
            <a:r>
              <a:rPr sz="2175" b="0">
                <a:solidFill>
                  <a:srgbClr val="141B2D"/>
                </a:solidFill>
                <a:latin typeface="Arial"/>
                <a:ea typeface="Arial"/>
                <a:cs typeface="Arial"/>
              </a:rPr>
              <a:t>Benchback finds the approved alternate-container route and asks the technician to confirm completeness.</a:t>
            </a:r>
          </a:p>
        </p:txBody>
      </p:sp>
      <p:sp>
        <p:nvSpPr>
          <p:cNvPr id="6" name="">
            <a:extLst xmlns:a="http://schemas.openxmlformats.org/drawingml/2006/main">
              <a:ext uri="{FF2B5EF4-FFF2-40B4-BE49-F238E27FC236}">
                <a16:creationId xmlns:a16="http://schemas.microsoft.com/office/drawing/2014/main" id="{9906537A-4D09-43FD-8EC4-066903A17D38}"/>
              </a:ext>
            </a:extLst>
          </p:cNvPr>
          <p:cNvSpPr>
            <a:spLocks xmlns:a="http://schemas.openxmlformats.org/drawingml/2006/main" noGrp="1"/>
          </p:cNvSpPr>
          <p:nvPr/>
        </p:nvSpPr>
        <p:spPr>
          <a:xfrm xmlns:a="http://schemas.openxmlformats.org/drawingml/2006/main">
            <a:off x="6286500" y="23431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859E6"/>
                </a:solidFill>
                <a:latin typeface="Arial"/>
                <a:ea typeface="Arial"/>
                <a:cs typeface="Arial"/>
              </a:defRPr>
            </a:pPr>
            <a:r>
              <a:rPr sz="1200" b="1">
                <a:solidFill>
                  <a:srgbClr val="2859E6"/>
                </a:solidFill>
                <a:latin typeface="Arial"/>
                <a:ea typeface="Arial"/>
                <a:cs typeface="Arial"/>
              </a:rPr>
              <a:t>MATCH</a:t>
            </a:r>
          </a:p>
        </p:txBody>
      </p:sp>
      <p:sp>
        <p:nvSpPr>
          <p:cNvPr id="7" name="">
            <a:extLst xmlns:a="http://schemas.openxmlformats.org/drawingml/2006/main">
              <a:ext uri="{FF2B5EF4-FFF2-40B4-BE49-F238E27FC236}">
                <a16:creationId xmlns:a16="http://schemas.microsoft.com/office/drawing/2014/main" id="{CF433B3F-1757-43E7-BA1A-63423F68B543}"/>
              </a:ext>
            </a:extLst>
          </p:cNvPr>
          <p:cNvSpPr>
            <a:spLocks xmlns:a="http://schemas.openxmlformats.org/drawingml/2006/main" noGrp="1"/>
          </p:cNvSpPr>
          <p:nvPr/>
        </p:nvSpPr>
        <p:spPr>
          <a:xfrm xmlns:a="http://schemas.openxmlformats.org/drawingml/2006/main">
            <a:off x="6286500" y="26289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B2D"/>
                </a:solidFill>
                <a:latin typeface="Arial"/>
                <a:ea typeface="Arial"/>
                <a:cs typeface="Arial"/>
              </a:defRPr>
            </a:pPr>
            <a:r>
              <a:rPr sz="1875" b="0">
                <a:solidFill>
                  <a:srgbClr val="141B2D"/>
                </a:solidFill>
                <a:latin typeface="Arial"/>
                <a:ea typeface="Arial"/>
                <a:cs typeface="Arial"/>
              </a:rPr>
              <a:t>WO-418   /   INV-8042</a:t>
            </a:r>
          </a:p>
        </p:txBody>
      </p:sp>
      <p:sp>
        <p:nvSpPr>
          <p:cNvPr id="8" name="">
            <a:extLst xmlns:a="http://schemas.openxmlformats.org/drawingml/2006/main">
              <a:ext uri="{FF2B5EF4-FFF2-40B4-BE49-F238E27FC236}">
                <a16:creationId xmlns:a16="http://schemas.microsoft.com/office/drawing/2014/main" id="{08A5188A-9734-4712-BF86-722BDA02A189}"/>
              </a:ext>
            </a:extLst>
          </p:cNvPr>
          <p:cNvSpPr>
            <a:spLocks xmlns:a="http://schemas.openxmlformats.org/drawingml/2006/main" noGrp="1"/>
          </p:cNvSpPr>
          <p:nvPr/>
        </p:nvSpPr>
        <p:spPr>
          <a:xfrm xmlns:a="http://schemas.openxmlformats.org/drawingml/2006/main">
            <a:off x="6286500" y="3086100"/>
            <a:ext cx="4762500" cy="9525"/>
          </a:xfrm>
          <a:prstGeom xmlns:a="http://schemas.openxmlformats.org/drawingml/2006/main" prst="rect">
            <a:avLst/>
          </a:prstGeom>
          <a:solidFill xmlns:a="http://schemas.openxmlformats.org/drawingml/2006/main">
            <a:srgbClr val="E9EDF3"/>
          </a:solidFill>
          <a:ln xmlns:a="http://schemas.openxmlformats.org/drawingml/2006/main" w="9525">
            <a:solidFill>
              <a:srgbClr val="E9EDF3"/>
            </a:solidFill>
          </a:ln>
        </p:spPr>
      </p:sp>
      <p:sp>
        <p:nvSpPr>
          <p:cNvPr id="9" name="">
            <a:extLst xmlns:a="http://schemas.openxmlformats.org/drawingml/2006/main">
              <a:ext uri="{FF2B5EF4-FFF2-40B4-BE49-F238E27FC236}">
                <a16:creationId xmlns:a16="http://schemas.microsoft.com/office/drawing/2014/main" id="{B28F89B3-E41B-4937-A189-7C79FEEEF908}"/>
              </a:ext>
            </a:extLst>
          </p:cNvPr>
          <p:cNvSpPr>
            <a:spLocks xmlns:a="http://schemas.openxmlformats.org/drawingml/2006/main" noGrp="1"/>
          </p:cNvSpPr>
          <p:nvPr/>
        </p:nvSpPr>
        <p:spPr>
          <a:xfrm xmlns:a="http://schemas.openxmlformats.org/drawingml/2006/main">
            <a:off x="6286500" y="3181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859E6"/>
                </a:solidFill>
                <a:latin typeface="Arial"/>
                <a:ea typeface="Arial"/>
                <a:cs typeface="Arial"/>
              </a:defRPr>
            </a:pPr>
            <a:r>
              <a:rPr sz="1200" b="1">
                <a:solidFill>
                  <a:srgbClr val="2859E6"/>
                </a:solidFill>
                <a:latin typeface="Arial"/>
                <a:ea typeface="Arial"/>
                <a:cs typeface="Arial"/>
              </a:rPr>
              <a:t>PART</a:t>
            </a:r>
          </a:p>
        </p:txBody>
      </p:sp>
      <p:sp>
        <p:nvSpPr>
          <p:cNvPr id="10" name="">
            <a:extLst xmlns:a="http://schemas.openxmlformats.org/drawingml/2006/main">
              <a:ext uri="{FF2B5EF4-FFF2-40B4-BE49-F238E27FC236}">
                <a16:creationId xmlns:a16="http://schemas.microsoft.com/office/drawing/2014/main" id="{102569C4-B868-47AC-9730-620D71442BE5}"/>
              </a:ext>
            </a:extLst>
          </p:cNvPr>
          <p:cNvSpPr>
            <a:spLocks xmlns:a="http://schemas.openxmlformats.org/drawingml/2006/main" noGrp="1"/>
          </p:cNvSpPr>
          <p:nvPr/>
        </p:nvSpPr>
        <p:spPr>
          <a:xfrm xmlns:a="http://schemas.openxmlformats.org/drawingml/2006/main">
            <a:off x="6286500" y="34671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B2D"/>
                </a:solidFill>
                <a:latin typeface="Arial"/>
                <a:ea typeface="Arial"/>
                <a:cs typeface="Arial"/>
              </a:defRPr>
            </a:pPr>
            <a:r>
              <a:rPr sz="1875" b="0">
                <a:solidFill>
                  <a:srgbClr val="141B2D"/>
                </a:solidFill>
                <a:latin typeface="Arial"/>
                <a:ea typeface="Arial"/>
                <a:cs typeface="Arial"/>
              </a:rPr>
              <a:t>ALT-24-160   /   $240 deposit</a:t>
            </a:r>
          </a:p>
        </p:txBody>
      </p:sp>
      <p:sp>
        <p:nvSpPr>
          <p:cNvPr id="11" name="">
            <a:extLst xmlns:a="http://schemas.openxmlformats.org/drawingml/2006/main">
              <a:ext uri="{FF2B5EF4-FFF2-40B4-BE49-F238E27FC236}">
                <a16:creationId xmlns:a16="http://schemas.microsoft.com/office/drawing/2014/main" id="{F8F1E6D5-85F0-4734-9327-C04D28444A9B}"/>
              </a:ext>
            </a:extLst>
          </p:cNvPr>
          <p:cNvSpPr>
            <a:spLocks xmlns:a="http://schemas.openxmlformats.org/drawingml/2006/main" noGrp="1"/>
          </p:cNvSpPr>
          <p:nvPr/>
        </p:nvSpPr>
        <p:spPr>
          <a:xfrm xmlns:a="http://schemas.openxmlformats.org/drawingml/2006/main">
            <a:off x="6286500" y="3924300"/>
            <a:ext cx="4762500" cy="9525"/>
          </a:xfrm>
          <a:prstGeom xmlns:a="http://schemas.openxmlformats.org/drawingml/2006/main" prst="rect">
            <a:avLst/>
          </a:prstGeom>
          <a:solidFill xmlns:a="http://schemas.openxmlformats.org/drawingml/2006/main">
            <a:srgbClr val="E9EDF3"/>
          </a:solidFill>
          <a:ln xmlns:a="http://schemas.openxmlformats.org/drawingml/2006/main" w="9525">
            <a:solidFill>
              <a:srgbClr val="E9EDF3"/>
            </a:solidFill>
          </a:ln>
        </p:spPr>
      </p:sp>
      <p:sp>
        <p:nvSpPr>
          <p:cNvPr id="12" name="">
            <a:extLst xmlns:a="http://schemas.openxmlformats.org/drawingml/2006/main">
              <a:ext uri="{FF2B5EF4-FFF2-40B4-BE49-F238E27FC236}">
                <a16:creationId xmlns:a16="http://schemas.microsoft.com/office/drawing/2014/main" id="{68848473-809B-472E-ADE1-5DE3B7BADE68}"/>
              </a:ext>
            </a:extLst>
          </p:cNvPr>
          <p:cNvSpPr>
            <a:spLocks xmlns:a="http://schemas.openxmlformats.org/drawingml/2006/main" noGrp="1"/>
          </p:cNvSpPr>
          <p:nvPr/>
        </p:nvSpPr>
        <p:spPr>
          <a:xfrm xmlns:a="http://schemas.openxmlformats.org/drawingml/2006/main">
            <a:off x="6286500" y="40195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859E6"/>
                </a:solidFill>
                <a:latin typeface="Arial"/>
                <a:ea typeface="Arial"/>
                <a:cs typeface="Arial"/>
              </a:defRPr>
            </a:pPr>
            <a:r>
              <a:rPr sz="1200" b="1">
                <a:solidFill>
                  <a:srgbClr val="2859E6"/>
                </a:solidFill>
                <a:latin typeface="Arial"/>
                <a:ea typeface="Arial"/>
                <a:cs typeface="Arial"/>
              </a:rPr>
              <a:t>DEADLINE</a:t>
            </a:r>
          </a:p>
        </p:txBody>
      </p:sp>
      <p:sp>
        <p:nvSpPr>
          <p:cNvPr id="13" name="">
            <a:extLst xmlns:a="http://schemas.openxmlformats.org/drawingml/2006/main">
              <a:ext uri="{FF2B5EF4-FFF2-40B4-BE49-F238E27FC236}">
                <a16:creationId xmlns:a16="http://schemas.microsoft.com/office/drawing/2014/main" id="{6E793CD1-11B9-4465-955A-D7A7C27AA589}"/>
              </a:ext>
            </a:extLst>
          </p:cNvPr>
          <p:cNvSpPr>
            <a:spLocks xmlns:a="http://schemas.openxmlformats.org/drawingml/2006/main" noGrp="1"/>
          </p:cNvSpPr>
          <p:nvPr/>
        </p:nvSpPr>
        <p:spPr>
          <a:xfrm xmlns:a="http://schemas.openxmlformats.org/drawingml/2006/main">
            <a:off x="6286500" y="43053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1B2D"/>
                </a:solidFill>
                <a:latin typeface="Arial"/>
                <a:ea typeface="Arial"/>
                <a:cs typeface="Arial"/>
              </a:defRPr>
            </a:pPr>
            <a:r>
              <a:rPr sz="1875" b="1">
                <a:solidFill>
                  <a:srgbClr val="141B2D"/>
                </a:solidFill>
                <a:latin typeface="Arial"/>
                <a:ea typeface="Arial"/>
                <a:cs typeface="Arial"/>
              </a:rPr>
              <a:t>21 Sep 2026</a:t>
            </a:r>
          </a:p>
        </p:txBody>
      </p:sp>
      <p:sp>
        <p:nvSpPr>
          <p:cNvPr id="14" name="">
            <a:extLst xmlns:a="http://schemas.openxmlformats.org/drawingml/2006/main">
              <a:ext uri="{FF2B5EF4-FFF2-40B4-BE49-F238E27FC236}">
                <a16:creationId xmlns:a16="http://schemas.microsoft.com/office/drawing/2014/main" id="{0CEDC9C5-C998-4975-BB19-BCD0A7F8F832}"/>
              </a:ext>
            </a:extLst>
          </p:cNvPr>
          <p:cNvSpPr>
            <a:spLocks xmlns:a="http://schemas.openxmlformats.org/drawingml/2006/main" noGrp="1"/>
          </p:cNvSpPr>
          <p:nvPr/>
        </p:nvSpPr>
        <p:spPr>
          <a:xfrm xmlns:a="http://schemas.openxmlformats.org/drawingml/2006/main">
            <a:off x="6286500" y="4762500"/>
            <a:ext cx="4762500" cy="9525"/>
          </a:xfrm>
          <a:prstGeom xmlns:a="http://schemas.openxmlformats.org/drawingml/2006/main" prst="rect">
            <a:avLst/>
          </a:prstGeom>
          <a:solidFill xmlns:a="http://schemas.openxmlformats.org/drawingml/2006/main">
            <a:srgbClr val="E9EDF3"/>
          </a:solidFill>
          <a:ln xmlns:a="http://schemas.openxmlformats.org/drawingml/2006/main" w="9525">
            <a:solidFill>
              <a:srgbClr val="E9EDF3"/>
            </a:solidFill>
          </a:ln>
        </p:spPr>
      </p:sp>
      <p:sp>
        <p:nvSpPr>
          <p:cNvPr id="15" name="">
            <a:extLst xmlns:a="http://schemas.openxmlformats.org/drawingml/2006/main">
              <a:ext uri="{FF2B5EF4-FFF2-40B4-BE49-F238E27FC236}">
                <a16:creationId xmlns:a16="http://schemas.microsoft.com/office/drawing/2014/main" id="{DC107FDE-2D96-4005-999A-BB1F4E6B897A}"/>
              </a:ext>
            </a:extLst>
          </p:cNvPr>
          <p:cNvSpPr>
            <a:spLocks xmlns:a="http://schemas.openxmlformats.org/drawingml/2006/main" noGrp="1"/>
          </p:cNvSpPr>
          <p:nvPr/>
        </p:nvSpPr>
        <p:spPr>
          <a:xfrm xmlns:a="http://schemas.openxmlformats.org/drawingml/2006/main">
            <a:off x="6286500" y="48577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859E6"/>
                </a:solidFill>
                <a:latin typeface="Arial"/>
                <a:ea typeface="Arial"/>
                <a:cs typeface="Arial"/>
              </a:defRPr>
            </a:pPr>
            <a:r>
              <a:rPr sz="1200" b="1">
                <a:solidFill>
                  <a:srgbClr val="2859E6"/>
                </a:solidFill>
                <a:latin typeface="Arial"/>
                <a:ea typeface="Arial"/>
                <a:cs typeface="Arial"/>
              </a:rPr>
              <a:t>GATE</a:t>
            </a:r>
          </a:p>
        </p:txBody>
      </p:sp>
      <p:sp>
        <p:nvSpPr>
          <p:cNvPr id="16" name="">
            <a:extLst xmlns:a="http://schemas.openxmlformats.org/drawingml/2006/main">
              <a:ext uri="{FF2B5EF4-FFF2-40B4-BE49-F238E27FC236}">
                <a16:creationId xmlns:a16="http://schemas.microsoft.com/office/drawing/2014/main" id="{DF80902C-9DED-4F81-B59F-916FBE433B27}"/>
              </a:ext>
            </a:extLst>
          </p:cNvPr>
          <p:cNvSpPr>
            <a:spLocks xmlns:a="http://schemas.openxmlformats.org/drawingml/2006/main" noGrp="1"/>
          </p:cNvSpPr>
          <p:nvPr/>
        </p:nvSpPr>
        <p:spPr>
          <a:xfrm xmlns:a="http://schemas.openxmlformats.org/drawingml/2006/main">
            <a:off x="6286500" y="51435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B2D"/>
                </a:solidFill>
                <a:latin typeface="Arial"/>
                <a:ea typeface="Arial"/>
                <a:cs typeface="Arial"/>
              </a:defRPr>
            </a:pPr>
            <a:r>
              <a:rPr sz="1875" b="0">
                <a:solidFill>
                  <a:srgbClr val="141B2D"/>
                </a:solidFill>
                <a:latin typeface="Arial"/>
                <a:ea typeface="Arial"/>
                <a:cs typeface="Arial"/>
              </a:rPr>
              <a:t>Confirm completeness, then manager review</a:t>
            </a:r>
          </a:p>
        </p:txBody>
      </p:sp>
    </p:spTree>
    <p:extLst>
      <p:ext uri="{BB962C8B-B14F-4D97-AF65-F5344CB8AC3E}">
        <p14:creationId xmlns:p14="http://schemas.microsoft.com/office/powerpoint/2010/main" val="449876456"/>
      </p:ext>
    </p:extLst>
  </p:cSld>
</p:sld>
</file>

<file path=ppt/slides/slide4.xml><?xml version="1.0" encoding="utf-8"?>
<p:sld xmlns:p="http://schemas.openxmlformats.org/presentationml/2006/main">
  <p:cSld>
    <p:bg>
      <p:bgPr>
        <a:solidFill xmlns:a="http://schemas.openxmlformats.org/drawingml/2006/main">
          <a:srgbClr val="141B2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08FD00A-D7B3-416A-9C65-DC599E83A5DE}"/>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Voice input. Explicit tool gates</a:t>
            </a:r>
          </a:p>
        </p:txBody>
      </p:sp>
      <p:sp>
        <p:nvSpPr>
          <p:cNvPr id="2" name="">
            <a:extLst xmlns:a="http://schemas.openxmlformats.org/drawingml/2006/main">
              <a:ext uri="{FF2B5EF4-FFF2-40B4-BE49-F238E27FC236}">
                <a16:creationId xmlns:a16="http://schemas.microsoft.com/office/drawing/2014/main" id="{6D7091A9-AC27-4A9F-8DAB-5CA4420986D0}"/>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DA8BD"/>
                </a:solidFill>
                <a:latin typeface="Arial"/>
                <a:ea typeface="Arial"/>
                <a:cs typeface="Arial"/>
              </a:defRPr>
            </a:pPr>
            <a:r>
              <a:rPr sz="1200" b="0">
                <a:solidFill>
                  <a:srgbClr val="9DA8B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6A9C24E-048D-4DA8-A8C8-4DF0B396179D}"/>
              </a:ext>
            </a:extLst>
          </p:cNvPr>
          <p:cNvSpPr>
            <a:spLocks xmlns:a="http://schemas.openxmlformats.org/drawingml/2006/main" noGrp="1"/>
          </p:cNvSpPr>
          <p:nvPr/>
        </p:nvSpPr>
        <p:spPr>
          <a:xfrm xmlns:a="http://schemas.openxmlformats.org/drawingml/2006/main">
            <a:off x="609600" y="15906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5EF69"/>
                </a:solidFill>
                <a:latin typeface="Arial"/>
                <a:ea typeface="Arial"/>
                <a:cs typeface="Arial"/>
              </a:defRPr>
            </a:pPr>
            <a:r>
              <a:rPr sz="2400" b="1">
                <a:solidFill>
                  <a:srgbClr val="C5EF69"/>
                </a:solidFill>
                <a:latin typeface="Arial"/>
                <a:ea typeface="Arial"/>
                <a:cs typeface="Arial"/>
              </a:rPr>
              <a:t>AssemblyAI native Voice Agent API</a:t>
            </a:r>
          </a:p>
        </p:txBody>
      </p:sp>
      <p:sp>
        <p:nvSpPr>
          <p:cNvPr id="4" name="">
            <a:extLst xmlns:a="http://schemas.openxmlformats.org/drawingml/2006/main">
              <a:ext uri="{FF2B5EF4-FFF2-40B4-BE49-F238E27FC236}">
                <a16:creationId xmlns:a16="http://schemas.microsoft.com/office/drawing/2014/main" id="{06ECD03F-0091-40C4-BABD-6B87D1C2AB1A}"/>
              </a:ext>
            </a:extLst>
          </p:cNvPr>
          <p:cNvSpPr>
            <a:spLocks xmlns:a="http://schemas.openxmlformats.org/drawingml/2006/main" noGrp="1"/>
          </p:cNvSpPr>
          <p:nvPr/>
        </p:nvSpPr>
        <p:spPr>
          <a:xfrm xmlns:a="http://schemas.openxmlformats.org/drawingml/2006/main">
            <a:off x="609600" y="2143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9EDF3"/>
                </a:solidFill>
                <a:latin typeface="Arial"/>
                <a:ea typeface="Arial"/>
                <a:cs typeface="Arial"/>
              </a:defRPr>
            </a:pPr>
            <a:r>
              <a:rPr sz="2025" b="0">
                <a:solidFill>
                  <a:srgbClr val="E9EDF3"/>
                </a:solidFill>
                <a:latin typeface="Arial"/>
                <a:ea typeface="Arial"/>
                <a:cs typeface="Arial"/>
              </a:rPr>
              <a:t>Speech recognition + reasoning + speech output + tool calling</a:t>
            </a:r>
          </a:p>
        </p:txBody>
      </p:sp>
      <p:sp>
        <p:nvSpPr>
          <p:cNvPr id="5" name="">
            <a:extLst xmlns:a="http://schemas.openxmlformats.org/drawingml/2006/main">
              <a:ext uri="{FF2B5EF4-FFF2-40B4-BE49-F238E27FC236}">
                <a16:creationId xmlns:a16="http://schemas.microsoft.com/office/drawing/2014/main" id="{9B7A4495-FBC1-4A15-900E-DBD1C1476601}"/>
              </a:ext>
            </a:extLst>
          </p:cNvPr>
          <p:cNvSpPr>
            <a:spLocks xmlns:a="http://schemas.openxmlformats.org/drawingml/2006/main" noGrp="1"/>
          </p:cNvSpPr>
          <p:nvPr/>
        </p:nvSpPr>
        <p:spPr>
          <a:xfrm xmlns:a="http://schemas.openxmlformats.org/drawingml/2006/main">
            <a:off x="609600" y="3305175"/>
            <a:ext cx="2495550" cy="1295400"/>
          </a:xfrm>
          <a:prstGeom xmlns:a="http://schemas.openxmlformats.org/drawingml/2006/main" prst="rect">
            <a:avLst/>
          </a:prstGeom>
          <a:solidFill xmlns:a="http://schemas.openxmlformats.org/drawingml/2006/main">
            <a:srgbClr val="202B43"/>
          </a:solidFill>
          <a:ln xmlns:a="http://schemas.openxmlformats.org/drawingml/2006/main" w="9525">
            <a:solidFill>
              <a:srgbClr val="202B43"/>
            </a:solidFill>
          </a:ln>
        </p:spPr>
      </p:sp>
      <p:sp>
        <p:nvSpPr>
          <p:cNvPr id="6" name="">
            <a:extLst xmlns:a="http://schemas.openxmlformats.org/drawingml/2006/main">
              <a:ext uri="{FF2B5EF4-FFF2-40B4-BE49-F238E27FC236}">
                <a16:creationId xmlns:a16="http://schemas.microsoft.com/office/drawing/2014/main" id="{CE19C8D0-C075-463F-BCD4-67EBB91B37FA}"/>
              </a:ext>
            </a:extLst>
          </p:cNvPr>
          <p:cNvSpPr>
            <a:spLocks xmlns:a="http://schemas.openxmlformats.org/drawingml/2006/main" noGrp="1"/>
          </p:cNvSpPr>
          <p:nvPr/>
        </p:nvSpPr>
        <p:spPr>
          <a:xfrm xmlns:a="http://schemas.openxmlformats.org/drawingml/2006/main">
            <a:off x="781050" y="34861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5EF69"/>
                </a:solidFill>
                <a:latin typeface="Arial"/>
                <a:ea typeface="Arial"/>
                <a:cs typeface="Arial"/>
              </a:defRPr>
            </a:pPr>
            <a:r>
              <a:rPr sz="1350" b="1">
                <a:solidFill>
                  <a:srgbClr val="C5EF69"/>
                </a:solidFill>
                <a:latin typeface="Arial"/>
                <a:ea typeface="Arial"/>
                <a:cs typeface="Arial"/>
              </a:rPr>
              <a:t>MATCH</a:t>
            </a:r>
          </a:p>
        </p:txBody>
      </p:sp>
      <p:sp>
        <p:nvSpPr>
          <p:cNvPr id="7" name="">
            <a:extLst xmlns:a="http://schemas.openxmlformats.org/drawingml/2006/main">
              <a:ext uri="{FF2B5EF4-FFF2-40B4-BE49-F238E27FC236}">
                <a16:creationId xmlns:a16="http://schemas.microsoft.com/office/drawing/2014/main" id="{F42043DE-1F65-48B0-AC91-0B3AD1DBE0CB}"/>
              </a:ext>
            </a:extLst>
          </p:cNvPr>
          <p:cNvSpPr>
            <a:spLocks xmlns:a="http://schemas.openxmlformats.org/drawingml/2006/main" noGrp="1"/>
          </p:cNvSpPr>
          <p:nvPr/>
        </p:nvSpPr>
        <p:spPr>
          <a:xfrm xmlns:a="http://schemas.openxmlformats.org/drawingml/2006/main">
            <a:off x="781050" y="3914775"/>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Invoice, job and part evidence</a:t>
            </a:r>
          </a:p>
        </p:txBody>
      </p:sp>
      <p:sp>
        <p:nvSpPr>
          <p:cNvPr id="8" name="">
            <a:extLst xmlns:a="http://schemas.openxmlformats.org/drawingml/2006/main">
              <a:ext uri="{FF2B5EF4-FFF2-40B4-BE49-F238E27FC236}">
                <a16:creationId xmlns:a16="http://schemas.microsoft.com/office/drawing/2014/main" id="{2A8D7A79-FCD2-4C6E-85B5-6E2CF6EC6339}"/>
              </a:ext>
            </a:extLst>
          </p:cNvPr>
          <p:cNvSpPr>
            <a:spLocks xmlns:a="http://schemas.openxmlformats.org/drawingml/2006/main" noGrp="1"/>
          </p:cNvSpPr>
          <p:nvPr/>
        </p:nvSpPr>
        <p:spPr>
          <a:xfrm xmlns:a="http://schemas.openxmlformats.org/drawingml/2006/main">
            <a:off x="3114675" y="3924300"/>
            <a:ext cx="266700" cy="9525"/>
          </a:xfrm>
          <a:prstGeom xmlns:a="http://schemas.openxmlformats.org/drawingml/2006/main" prst="rect">
            <a:avLst/>
          </a:prstGeom>
          <a:solidFill xmlns:a="http://schemas.openxmlformats.org/drawingml/2006/main">
            <a:srgbClr val="9DA8BD"/>
          </a:solidFill>
          <a:ln xmlns:a="http://schemas.openxmlformats.org/drawingml/2006/main" w="9525">
            <a:solidFill>
              <a:srgbClr val="9DA8BD"/>
            </a:solidFill>
          </a:ln>
        </p:spPr>
      </p:sp>
      <p:sp>
        <p:nvSpPr>
          <p:cNvPr id="9" name="">
            <a:extLst xmlns:a="http://schemas.openxmlformats.org/drawingml/2006/main">
              <a:ext uri="{FF2B5EF4-FFF2-40B4-BE49-F238E27FC236}">
                <a16:creationId xmlns:a16="http://schemas.microsoft.com/office/drawing/2014/main" id="{69D97FCA-AD8F-4FB8-8951-E3B92684F80D}"/>
              </a:ext>
            </a:extLst>
          </p:cNvPr>
          <p:cNvSpPr>
            <a:spLocks xmlns:a="http://schemas.openxmlformats.org/drawingml/2006/main" noGrp="1"/>
          </p:cNvSpPr>
          <p:nvPr/>
        </p:nvSpPr>
        <p:spPr>
          <a:xfrm xmlns:a="http://schemas.openxmlformats.org/drawingml/2006/main">
            <a:off x="3381375" y="3305175"/>
            <a:ext cx="2495550" cy="1295400"/>
          </a:xfrm>
          <a:prstGeom xmlns:a="http://schemas.openxmlformats.org/drawingml/2006/main" prst="rect">
            <a:avLst/>
          </a:prstGeom>
          <a:solidFill xmlns:a="http://schemas.openxmlformats.org/drawingml/2006/main">
            <a:srgbClr val="202B43"/>
          </a:solidFill>
          <a:ln xmlns:a="http://schemas.openxmlformats.org/drawingml/2006/main" w="9525">
            <a:solidFill>
              <a:srgbClr val="202B43"/>
            </a:solidFill>
          </a:ln>
        </p:spPr>
      </p:sp>
      <p:sp>
        <p:nvSpPr>
          <p:cNvPr id="10" name="">
            <a:extLst xmlns:a="http://schemas.openxmlformats.org/drawingml/2006/main">
              <a:ext uri="{FF2B5EF4-FFF2-40B4-BE49-F238E27FC236}">
                <a16:creationId xmlns:a16="http://schemas.microsoft.com/office/drawing/2014/main" id="{EF3F2802-25A0-4B93-B6DE-364C29C18C85}"/>
              </a:ext>
            </a:extLst>
          </p:cNvPr>
          <p:cNvSpPr>
            <a:spLocks xmlns:a="http://schemas.openxmlformats.org/drawingml/2006/main" noGrp="1"/>
          </p:cNvSpPr>
          <p:nvPr/>
        </p:nvSpPr>
        <p:spPr>
          <a:xfrm xmlns:a="http://schemas.openxmlformats.org/drawingml/2006/main">
            <a:off x="3552825" y="34861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5EF69"/>
                </a:solidFill>
                <a:latin typeface="Arial"/>
                <a:ea typeface="Arial"/>
                <a:cs typeface="Arial"/>
              </a:defRPr>
            </a:pPr>
            <a:r>
              <a:rPr sz="1350" b="1">
                <a:solidFill>
                  <a:srgbClr val="C5EF69"/>
                </a:solidFill>
                <a:latin typeface="Arial"/>
                <a:ea typeface="Arial"/>
                <a:cs typeface="Arial"/>
              </a:rPr>
              <a:t>CHECK</a:t>
            </a:r>
          </a:p>
        </p:txBody>
      </p:sp>
      <p:sp>
        <p:nvSpPr>
          <p:cNvPr id="11" name="">
            <a:extLst xmlns:a="http://schemas.openxmlformats.org/drawingml/2006/main">
              <a:ext uri="{FF2B5EF4-FFF2-40B4-BE49-F238E27FC236}">
                <a16:creationId xmlns:a16="http://schemas.microsoft.com/office/drawing/2014/main" id="{5BD1B4E4-EAEA-4079-8016-553604D5664B}"/>
              </a:ext>
            </a:extLst>
          </p:cNvPr>
          <p:cNvSpPr>
            <a:spLocks xmlns:a="http://schemas.openxmlformats.org/drawingml/2006/main" noGrp="1"/>
          </p:cNvSpPr>
          <p:nvPr/>
        </p:nvSpPr>
        <p:spPr>
          <a:xfrm xmlns:a="http://schemas.openxmlformats.org/drawingml/2006/main">
            <a:off x="3552825" y="3914775"/>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Approved supplier policy</a:t>
            </a:r>
          </a:p>
        </p:txBody>
      </p:sp>
      <p:sp>
        <p:nvSpPr>
          <p:cNvPr id="12" name="">
            <a:extLst xmlns:a="http://schemas.openxmlformats.org/drawingml/2006/main">
              <a:ext uri="{FF2B5EF4-FFF2-40B4-BE49-F238E27FC236}">
                <a16:creationId xmlns:a16="http://schemas.microsoft.com/office/drawing/2014/main" id="{22320684-612C-442F-AFB5-A439214A56E5}"/>
              </a:ext>
            </a:extLst>
          </p:cNvPr>
          <p:cNvSpPr>
            <a:spLocks xmlns:a="http://schemas.openxmlformats.org/drawingml/2006/main" noGrp="1"/>
          </p:cNvSpPr>
          <p:nvPr/>
        </p:nvSpPr>
        <p:spPr>
          <a:xfrm xmlns:a="http://schemas.openxmlformats.org/drawingml/2006/main">
            <a:off x="5886450" y="3924300"/>
            <a:ext cx="266700" cy="9525"/>
          </a:xfrm>
          <a:prstGeom xmlns:a="http://schemas.openxmlformats.org/drawingml/2006/main" prst="rect">
            <a:avLst/>
          </a:prstGeom>
          <a:solidFill xmlns:a="http://schemas.openxmlformats.org/drawingml/2006/main">
            <a:srgbClr val="9DA8BD"/>
          </a:solidFill>
          <a:ln xmlns:a="http://schemas.openxmlformats.org/drawingml/2006/main" w="9525">
            <a:solidFill>
              <a:srgbClr val="9DA8BD"/>
            </a:solidFill>
          </a:ln>
        </p:spPr>
      </p:sp>
      <p:sp>
        <p:nvSpPr>
          <p:cNvPr id="13" name="">
            <a:extLst xmlns:a="http://schemas.openxmlformats.org/drawingml/2006/main">
              <a:ext uri="{FF2B5EF4-FFF2-40B4-BE49-F238E27FC236}">
                <a16:creationId xmlns:a16="http://schemas.microsoft.com/office/drawing/2014/main" id="{968A4D87-70F3-446D-917B-5C43CD89550F}"/>
              </a:ext>
            </a:extLst>
          </p:cNvPr>
          <p:cNvSpPr>
            <a:spLocks xmlns:a="http://schemas.openxmlformats.org/drawingml/2006/main" noGrp="1"/>
          </p:cNvSpPr>
          <p:nvPr/>
        </p:nvSpPr>
        <p:spPr>
          <a:xfrm xmlns:a="http://schemas.openxmlformats.org/drawingml/2006/main">
            <a:off x="6153150" y="3305175"/>
            <a:ext cx="2495550" cy="1295400"/>
          </a:xfrm>
          <a:prstGeom xmlns:a="http://schemas.openxmlformats.org/drawingml/2006/main" prst="rect">
            <a:avLst/>
          </a:prstGeom>
          <a:solidFill xmlns:a="http://schemas.openxmlformats.org/drawingml/2006/main">
            <a:srgbClr val="202B43"/>
          </a:solidFill>
          <a:ln xmlns:a="http://schemas.openxmlformats.org/drawingml/2006/main" w="9525">
            <a:solidFill>
              <a:srgbClr val="202B43"/>
            </a:solidFill>
          </a:ln>
        </p:spPr>
      </p:sp>
      <p:sp>
        <p:nvSpPr>
          <p:cNvPr id="14" name="">
            <a:extLst xmlns:a="http://schemas.openxmlformats.org/drawingml/2006/main">
              <a:ext uri="{FF2B5EF4-FFF2-40B4-BE49-F238E27FC236}">
                <a16:creationId xmlns:a16="http://schemas.microsoft.com/office/drawing/2014/main" id="{01763C71-9F30-4E2E-AD4B-0A70A5D15E36}"/>
              </a:ext>
            </a:extLst>
          </p:cNvPr>
          <p:cNvSpPr>
            <a:spLocks xmlns:a="http://schemas.openxmlformats.org/drawingml/2006/main" noGrp="1"/>
          </p:cNvSpPr>
          <p:nvPr/>
        </p:nvSpPr>
        <p:spPr>
          <a:xfrm xmlns:a="http://schemas.openxmlformats.org/drawingml/2006/main">
            <a:off x="6324600" y="34861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5EF69"/>
                </a:solidFill>
                <a:latin typeface="Arial"/>
                <a:ea typeface="Arial"/>
                <a:cs typeface="Arial"/>
              </a:defRPr>
            </a:pPr>
            <a:r>
              <a:rPr sz="1350" b="1">
                <a:solidFill>
                  <a:srgbClr val="C5EF69"/>
                </a:solidFill>
                <a:latin typeface="Arial"/>
                <a:ea typeface="Arial"/>
                <a:cs typeface="Arial"/>
              </a:rPr>
              <a:t>REVIEW</a:t>
            </a:r>
          </a:p>
        </p:txBody>
      </p:sp>
      <p:sp>
        <p:nvSpPr>
          <p:cNvPr id="15" name="">
            <a:extLst xmlns:a="http://schemas.openxmlformats.org/drawingml/2006/main">
              <a:ext uri="{FF2B5EF4-FFF2-40B4-BE49-F238E27FC236}">
                <a16:creationId xmlns:a16="http://schemas.microsoft.com/office/drawing/2014/main" id="{E4C99AE3-F16F-41E0-B49C-9A19A55BA854}"/>
              </a:ext>
            </a:extLst>
          </p:cNvPr>
          <p:cNvSpPr>
            <a:spLocks xmlns:a="http://schemas.openxmlformats.org/drawingml/2006/main" noGrp="1"/>
          </p:cNvSpPr>
          <p:nvPr/>
        </p:nvSpPr>
        <p:spPr>
          <a:xfrm xmlns:a="http://schemas.openxmlformats.org/drawingml/2006/main">
            <a:off x="6324600" y="3914775"/>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Manager approval</a:t>
            </a:r>
          </a:p>
        </p:txBody>
      </p:sp>
      <p:sp>
        <p:nvSpPr>
          <p:cNvPr id="16" name="">
            <a:extLst xmlns:a="http://schemas.openxmlformats.org/drawingml/2006/main">
              <a:ext uri="{FF2B5EF4-FFF2-40B4-BE49-F238E27FC236}">
                <a16:creationId xmlns:a16="http://schemas.microsoft.com/office/drawing/2014/main" id="{DBCB4282-62F4-454B-983B-BBFFAA514070}"/>
              </a:ext>
            </a:extLst>
          </p:cNvPr>
          <p:cNvSpPr>
            <a:spLocks xmlns:a="http://schemas.openxmlformats.org/drawingml/2006/main" noGrp="1"/>
          </p:cNvSpPr>
          <p:nvPr/>
        </p:nvSpPr>
        <p:spPr>
          <a:xfrm xmlns:a="http://schemas.openxmlformats.org/drawingml/2006/main">
            <a:off x="8658225" y="3924300"/>
            <a:ext cx="266700" cy="9525"/>
          </a:xfrm>
          <a:prstGeom xmlns:a="http://schemas.openxmlformats.org/drawingml/2006/main" prst="rect">
            <a:avLst/>
          </a:prstGeom>
          <a:solidFill xmlns:a="http://schemas.openxmlformats.org/drawingml/2006/main">
            <a:srgbClr val="9DA8BD"/>
          </a:solidFill>
          <a:ln xmlns:a="http://schemas.openxmlformats.org/drawingml/2006/main" w="9525">
            <a:solidFill>
              <a:srgbClr val="9DA8BD"/>
            </a:solidFill>
          </a:ln>
        </p:spPr>
      </p:sp>
      <p:sp>
        <p:nvSpPr>
          <p:cNvPr id="17" name="">
            <a:extLst xmlns:a="http://schemas.openxmlformats.org/drawingml/2006/main">
              <a:ext uri="{FF2B5EF4-FFF2-40B4-BE49-F238E27FC236}">
                <a16:creationId xmlns:a16="http://schemas.microsoft.com/office/drawing/2014/main" id="{C9E1461D-B590-4F9A-AF19-74D98671160A}"/>
              </a:ext>
            </a:extLst>
          </p:cNvPr>
          <p:cNvSpPr>
            <a:spLocks xmlns:a="http://schemas.openxmlformats.org/drawingml/2006/main" noGrp="1"/>
          </p:cNvSpPr>
          <p:nvPr/>
        </p:nvSpPr>
        <p:spPr>
          <a:xfrm xmlns:a="http://schemas.openxmlformats.org/drawingml/2006/main">
            <a:off x="8924925" y="3305175"/>
            <a:ext cx="2495550" cy="1295400"/>
          </a:xfrm>
          <a:prstGeom xmlns:a="http://schemas.openxmlformats.org/drawingml/2006/main" prst="rect">
            <a:avLst/>
          </a:prstGeom>
          <a:solidFill xmlns:a="http://schemas.openxmlformats.org/drawingml/2006/main">
            <a:srgbClr val="202B43"/>
          </a:solidFill>
          <a:ln xmlns:a="http://schemas.openxmlformats.org/drawingml/2006/main" w="9525">
            <a:solidFill>
              <a:srgbClr val="202B43"/>
            </a:solidFill>
          </a:ln>
        </p:spPr>
      </p:sp>
      <p:sp>
        <p:nvSpPr>
          <p:cNvPr id="18" name="">
            <a:extLst xmlns:a="http://schemas.openxmlformats.org/drawingml/2006/main">
              <a:ext uri="{FF2B5EF4-FFF2-40B4-BE49-F238E27FC236}">
                <a16:creationId xmlns:a16="http://schemas.microsoft.com/office/drawing/2014/main" id="{ABDB7C2F-6EC8-4539-BAED-3565CCD54BDA}"/>
              </a:ext>
            </a:extLst>
          </p:cNvPr>
          <p:cNvSpPr>
            <a:spLocks xmlns:a="http://schemas.openxmlformats.org/drawingml/2006/main" noGrp="1"/>
          </p:cNvSpPr>
          <p:nvPr/>
        </p:nvSpPr>
        <p:spPr>
          <a:xfrm xmlns:a="http://schemas.openxmlformats.org/drawingml/2006/main">
            <a:off x="9096375" y="34861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5EF69"/>
                </a:solidFill>
                <a:latin typeface="Arial"/>
                <a:ea typeface="Arial"/>
                <a:cs typeface="Arial"/>
              </a:defRPr>
            </a:pPr>
            <a:r>
              <a:rPr sz="1350" b="1">
                <a:solidFill>
                  <a:srgbClr val="C5EF69"/>
                </a:solidFill>
                <a:latin typeface="Arial"/>
                <a:ea typeface="Arial"/>
                <a:cs typeface="Arial"/>
              </a:rPr>
              <a:t>RECONCILE</a:t>
            </a:r>
          </a:p>
        </p:txBody>
      </p:sp>
      <p:sp>
        <p:nvSpPr>
          <p:cNvPr id="19" name="">
            <a:extLst xmlns:a="http://schemas.openxmlformats.org/drawingml/2006/main">
              <a:ext uri="{FF2B5EF4-FFF2-40B4-BE49-F238E27FC236}">
                <a16:creationId xmlns:a16="http://schemas.microsoft.com/office/drawing/2014/main" id="{AFC7251F-5FC7-4570-8F85-3355B092364C}"/>
              </a:ext>
            </a:extLst>
          </p:cNvPr>
          <p:cNvSpPr>
            <a:spLocks xmlns:a="http://schemas.openxmlformats.org/drawingml/2006/main" noGrp="1"/>
          </p:cNvSpPr>
          <p:nvPr/>
        </p:nvSpPr>
        <p:spPr>
          <a:xfrm xmlns:a="http://schemas.openxmlformats.org/drawingml/2006/main">
            <a:off x="9096375" y="3914775"/>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Posted supplier credits</a:t>
            </a:r>
          </a:p>
        </p:txBody>
      </p:sp>
      <p:sp>
        <p:nvSpPr>
          <p:cNvPr id="20" name="">
            <a:extLst xmlns:a="http://schemas.openxmlformats.org/drawingml/2006/main">
              <a:ext uri="{FF2B5EF4-FFF2-40B4-BE49-F238E27FC236}">
                <a16:creationId xmlns:a16="http://schemas.microsoft.com/office/drawing/2014/main" id="{1B499F5F-BF8A-426E-B266-CCBF56CC3923}"/>
              </a:ext>
            </a:extLst>
          </p:cNvPr>
          <p:cNvSpPr>
            <a:spLocks xmlns:a="http://schemas.openxmlformats.org/drawingml/2006/main" noGrp="1"/>
          </p:cNvSpPr>
          <p:nvPr/>
        </p:nvSpPr>
        <p:spPr>
          <a:xfrm xmlns:a="http://schemas.openxmlformats.org/drawingml/2006/main">
            <a:off x="609600" y="53530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Tools use explicit records and approvals before changing a return’s state.</a:t>
            </a:r>
          </a:p>
        </p:txBody>
      </p:sp>
    </p:spTree>
    <p:extLst>
      <p:ext uri="{BB962C8B-B14F-4D97-AF65-F5344CB8AC3E}">
        <p14:creationId xmlns:p14="http://schemas.microsoft.com/office/powerpoint/2010/main" val="17524792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EC8721-0CB8-448C-A59B-5BF03993A9D1}"/>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1B2D"/>
                </a:solidFill>
                <a:latin typeface="Arial"/>
                <a:ea typeface="Arial"/>
                <a:cs typeface="Arial"/>
              </a:defRPr>
            </a:pPr>
            <a:r>
              <a:rPr sz="3600" b="1">
                <a:solidFill>
                  <a:srgbClr val="141B2D"/>
                </a:solidFill>
                <a:latin typeface="Arial"/>
                <a:ea typeface="Arial"/>
                <a:cs typeface="Arial"/>
              </a:rPr>
              <a:t>The ledger closes when the credit arrives</a:t>
            </a:r>
          </a:p>
        </p:txBody>
      </p:sp>
      <p:sp>
        <p:nvSpPr>
          <p:cNvPr id="2" name="">
            <a:extLst xmlns:a="http://schemas.openxmlformats.org/drawingml/2006/main">
              <a:ext uri="{FF2B5EF4-FFF2-40B4-BE49-F238E27FC236}">
                <a16:creationId xmlns:a16="http://schemas.microsoft.com/office/drawing/2014/main" id="{9990727C-B907-4F81-8749-1C419E41CE28}"/>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3448"/>
                </a:solidFill>
                <a:latin typeface="Arial"/>
                <a:ea typeface="Arial"/>
                <a:cs typeface="Arial"/>
              </a:defRPr>
            </a:pPr>
            <a:r>
              <a:rPr sz="1200" b="0">
                <a:solidFill>
                  <a:srgbClr val="29344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E5D470C-D711-4791-AE34-043FBD6154C7}"/>
              </a:ext>
            </a:extLst>
          </p:cNvPr>
          <p:cNvSpPr>
            <a:spLocks xmlns:a="http://schemas.openxmlformats.org/drawingml/2006/main" noGrp="1"/>
          </p:cNvSpPr>
          <p:nvPr/>
        </p:nvSpPr>
        <p:spPr>
          <a:xfrm xmlns:a="http://schemas.openxmlformats.org/drawingml/2006/main">
            <a:off x="609600" y="15430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Fictional demo ledger</a:t>
            </a:r>
          </a:p>
        </p:txBody>
      </p:sp>
      <p:sp>
        <p:nvSpPr>
          <p:cNvPr id="4" name="">
            <a:extLst xmlns:a="http://schemas.openxmlformats.org/drawingml/2006/main">
              <a:ext uri="{FF2B5EF4-FFF2-40B4-BE49-F238E27FC236}">
                <a16:creationId xmlns:a16="http://schemas.microsoft.com/office/drawing/2014/main" id="{1091189E-B9F4-429F-B5E5-ED2B4206886E}"/>
              </a:ext>
            </a:extLst>
          </p:cNvPr>
          <p:cNvSpPr>
            <a:spLocks xmlns:a="http://schemas.openxmlformats.org/drawingml/2006/main" noGrp="1"/>
          </p:cNvSpPr>
          <p:nvPr/>
        </p:nvSpPr>
        <p:spPr>
          <a:xfrm xmlns:a="http://schemas.openxmlformats.org/drawingml/2006/main">
            <a:off x="609600" y="26289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41B2D"/>
                </a:solidFill>
                <a:latin typeface="Arial"/>
                <a:ea typeface="Arial"/>
                <a:cs typeface="Arial"/>
              </a:defRPr>
            </a:pPr>
            <a:r>
              <a:rPr sz="6600" b="1">
                <a:solidFill>
                  <a:srgbClr val="141B2D"/>
                </a:solidFill>
                <a:latin typeface="Arial"/>
                <a:ea typeface="Arial"/>
                <a:cs typeface="Arial"/>
              </a:rPr>
              <a:t>$240</a:t>
            </a:r>
          </a:p>
        </p:txBody>
      </p:sp>
      <p:sp>
        <p:nvSpPr>
          <p:cNvPr id="5" name="">
            <a:extLst xmlns:a="http://schemas.openxmlformats.org/drawingml/2006/main">
              <a:ext uri="{FF2B5EF4-FFF2-40B4-BE49-F238E27FC236}">
                <a16:creationId xmlns:a16="http://schemas.microsoft.com/office/drawing/2014/main" id="{0DBC192C-FCCA-49EA-A3CB-F853610CECC0}"/>
              </a:ext>
            </a:extLst>
          </p:cNvPr>
          <p:cNvSpPr>
            <a:spLocks xmlns:a="http://schemas.openxmlformats.org/drawingml/2006/main" noGrp="1"/>
          </p:cNvSpPr>
          <p:nvPr/>
        </p:nvSpPr>
        <p:spPr>
          <a:xfrm xmlns:a="http://schemas.openxmlformats.org/drawingml/2006/main">
            <a:off x="609600" y="39243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B2D"/>
                </a:solidFill>
                <a:latin typeface="Arial"/>
                <a:ea typeface="Arial"/>
                <a:cs typeface="Arial"/>
              </a:defRPr>
            </a:pPr>
            <a:r>
              <a:rPr sz="2025" b="1">
                <a:solidFill>
                  <a:srgbClr val="141B2D"/>
                </a:solidFill>
                <a:latin typeface="Arial"/>
                <a:ea typeface="Arial"/>
                <a:cs typeface="Arial"/>
              </a:rPr>
              <a:t>Expected credit</a:t>
            </a:r>
          </a:p>
        </p:txBody>
      </p:sp>
      <p:sp>
        <p:nvSpPr>
          <p:cNvPr id="6" name="">
            <a:extLst xmlns:a="http://schemas.openxmlformats.org/drawingml/2006/main">
              <a:ext uri="{FF2B5EF4-FFF2-40B4-BE49-F238E27FC236}">
                <a16:creationId xmlns:a16="http://schemas.microsoft.com/office/drawing/2014/main" id="{045CEC1C-88F3-467F-A35F-44FB4468FC50}"/>
              </a:ext>
            </a:extLst>
          </p:cNvPr>
          <p:cNvSpPr>
            <a:spLocks xmlns:a="http://schemas.openxmlformats.org/drawingml/2006/main" noGrp="1"/>
          </p:cNvSpPr>
          <p:nvPr/>
        </p:nvSpPr>
        <p:spPr>
          <a:xfrm xmlns:a="http://schemas.openxmlformats.org/drawingml/2006/main">
            <a:off x="609600" y="44386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Deposit on INV-8042</a:t>
            </a:r>
          </a:p>
        </p:txBody>
      </p:sp>
      <p:sp>
        <p:nvSpPr>
          <p:cNvPr id="7" name="">
            <a:extLst xmlns:a="http://schemas.openxmlformats.org/drawingml/2006/main">
              <a:ext uri="{FF2B5EF4-FFF2-40B4-BE49-F238E27FC236}">
                <a16:creationId xmlns:a16="http://schemas.microsoft.com/office/drawing/2014/main" id="{AD488CF0-CB39-436B-9271-340059F0C0D3}"/>
              </a:ext>
            </a:extLst>
          </p:cNvPr>
          <p:cNvSpPr>
            <a:spLocks xmlns:a="http://schemas.openxmlformats.org/drawingml/2006/main" noGrp="1"/>
          </p:cNvSpPr>
          <p:nvPr/>
        </p:nvSpPr>
        <p:spPr>
          <a:xfrm xmlns:a="http://schemas.openxmlformats.org/drawingml/2006/main">
            <a:off x="4276725" y="26289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41B2D"/>
                </a:solidFill>
                <a:latin typeface="Arial"/>
                <a:ea typeface="Arial"/>
                <a:cs typeface="Arial"/>
              </a:defRPr>
            </a:pPr>
            <a:r>
              <a:rPr sz="6600" b="1">
                <a:solidFill>
                  <a:srgbClr val="141B2D"/>
                </a:solidFill>
                <a:latin typeface="Arial"/>
                <a:ea typeface="Arial"/>
                <a:cs typeface="Arial"/>
              </a:rPr>
              <a:t>$200</a:t>
            </a:r>
          </a:p>
        </p:txBody>
      </p:sp>
      <p:sp>
        <p:nvSpPr>
          <p:cNvPr id="8" name="">
            <a:extLst xmlns:a="http://schemas.openxmlformats.org/drawingml/2006/main">
              <a:ext uri="{FF2B5EF4-FFF2-40B4-BE49-F238E27FC236}">
                <a16:creationId xmlns:a16="http://schemas.microsoft.com/office/drawing/2014/main" id="{8360AE03-B2AD-48B2-9E56-63A0782BE949}"/>
              </a:ext>
            </a:extLst>
          </p:cNvPr>
          <p:cNvSpPr>
            <a:spLocks xmlns:a="http://schemas.openxmlformats.org/drawingml/2006/main" noGrp="1"/>
          </p:cNvSpPr>
          <p:nvPr/>
        </p:nvSpPr>
        <p:spPr>
          <a:xfrm xmlns:a="http://schemas.openxmlformats.org/drawingml/2006/main">
            <a:off x="4276725" y="39243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B2D"/>
                </a:solidFill>
                <a:latin typeface="Arial"/>
                <a:ea typeface="Arial"/>
                <a:cs typeface="Arial"/>
              </a:defRPr>
            </a:pPr>
            <a:r>
              <a:rPr sz="2025" b="1">
                <a:solidFill>
                  <a:srgbClr val="141B2D"/>
                </a:solidFill>
                <a:latin typeface="Arial"/>
                <a:ea typeface="Arial"/>
                <a:cs typeface="Arial"/>
              </a:rPr>
              <a:t>Credit received</a:t>
            </a:r>
          </a:p>
        </p:txBody>
      </p:sp>
      <p:sp>
        <p:nvSpPr>
          <p:cNvPr id="9" name="">
            <a:extLst xmlns:a="http://schemas.openxmlformats.org/drawingml/2006/main">
              <a:ext uri="{FF2B5EF4-FFF2-40B4-BE49-F238E27FC236}">
                <a16:creationId xmlns:a16="http://schemas.microsoft.com/office/drawing/2014/main" id="{A0BBA2E3-9138-40D3-A8E7-EBF68DBF505E}"/>
              </a:ext>
            </a:extLst>
          </p:cNvPr>
          <p:cNvSpPr>
            <a:spLocks xmlns:a="http://schemas.openxmlformats.org/drawingml/2006/main" noGrp="1"/>
          </p:cNvSpPr>
          <p:nvPr/>
        </p:nvSpPr>
        <p:spPr>
          <a:xfrm xmlns:a="http://schemas.openxmlformats.org/drawingml/2006/main">
            <a:off x="4276725" y="44386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CM-219</a:t>
            </a:r>
          </a:p>
        </p:txBody>
      </p:sp>
      <p:sp>
        <p:nvSpPr>
          <p:cNvPr id="10" name="">
            <a:extLst xmlns:a="http://schemas.openxmlformats.org/drawingml/2006/main">
              <a:ext uri="{FF2B5EF4-FFF2-40B4-BE49-F238E27FC236}">
                <a16:creationId xmlns:a16="http://schemas.microsoft.com/office/drawing/2014/main" id="{6C3867C7-43D1-4D4D-AD70-DF57E8B93902}"/>
              </a:ext>
            </a:extLst>
          </p:cNvPr>
          <p:cNvSpPr>
            <a:spLocks xmlns:a="http://schemas.openxmlformats.org/drawingml/2006/main" noGrp="1"/>
          </p:cNvSpPr>
          <p:nvPr/>
        </p:nvSpPr>
        <p:spPr>
          <a:xfrm xmlns:a="http://schemas.openxmlformats.org/drawingml/2006/main">
            <a:off x="7943850" y="26289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2859E6"/>
                </a:solidFill>
                <a:latin typeface="Arial"/>
                <a:ea typeface="Arial"/>
                <a:cs typeface="Arial"/>
              </a:defRPr>
            </a:pPr>
            <a:r>
              <a:rPr sz="6600" b="1">
                <a:solidFill>
                  <a:srgbClr val="2859E6"/>
                </a:solidFill>
                <a:latin typeface="Arial"/>
                <a:ea typeface="Arial"/>
                <a:cs typeface="Arial"/>
              </a:rPr>
              <a:t>$40</a:t>
            </a:r>
          </a:p>
        </p:txBody>
      </p:sp>
      <p:sp>
        <p:nvSpPr>
          <p:cNvPr id="11" name="">
            <a:extLst xmlns:a="http://schemas.openxmlformats.org/drawingml/2006/main">
              <a:ext uri="{FF2B5EF4-FFF2-40B4-BE49-F238E27FC236}">
                <a16:creationId xmlns:a16="http://schemas.microsoft.com/office/drawing/2014/main" id="{7E1DD328-BFFD-440A-A98B-DA73D5F4E71E}"/>
              </a:ext>
            </a:extLst>
          </p:cNvPr>
          <p:cNvSpPr>
            <a:spLocks xmlns:a="http://schemas.openxmlformats.org/drawingml/2006/main" noGrp="1"/>
          </p:cNvSpPr>
          <p:nvPr/>
        </p:nvSpPr>
        <p:spPr>
          <a:xfrm xmlns:a="http://schemas.openxmlformats.org/drawingml/2006/main">
            <a:off x="7943850" y="39243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B2D"/>
                </a:solidFill>
                <a:latin typeface="Arial"/>
                <a:ea typeface="Arial"/>
                <a:cs typeface="Arial"/>
              </a:defRPr>
            </a:pPr>
            <a:r>
              <a:rPr sz="2025" b="1">
                <a:solidFill>
                  <a:srgbClr val="141B2D"/>
                </a:solidFill>
                <a:latin typeface="Arial"/>
                <a:ea typeface="Arial"/>
                <a:cs typeface="Arial"/>
              </a:rPr>
              <a:t>Open discrepancy</a:t>
            </a:r>
          </a:p>
        </p:txBody>
      </p:sp>
      <p:sp>
        <p:nvSpPr>
          <p:cNvPr id="12" name="">
            <a:extLst xmlns:a="http://schemas.openxmlformats.org/drawingml/2006/main">
              <a:ext uri="{FF2B5EF4-FFF2-40B4-BE49-F238E27FC236}">
                <a16:creationId xmlns:a16="http://schemas.microsoft.com/office/drawing/2014/main" id="{B2DB7BB4-8A18-4403-AA26-599423791B32}"/>
              </a:ext>
            </a:extLst>
          </p:cNvPr>
          <p:cNvSpPr>
            <a:spLocks xmlns:a="http://schemas.openxmlformats.org/drawingml/2006/main" noGrp="1"/>
          </p:cNvSpPr>
          <p:nvPr/>
        </p:nvSpPr>
        <p:spPr>
          <a:xfrm xmlns:a="http://schemas.openxmlformats.org/drawingml/2006/main">
            <a:off x="7943850" y="44386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448"/>
                </a:solidFill>
                <a:latin typeface="Arial"/>
                <a:ea typeface="Arial"/>
                <a:cs typeface="Arial"/>
              </a:defRPr>
            </a:pPr>
            <a:r>
              <a:rPr sz="1800" b="0">
                <a:solidFill>
                  <a:srgbClr val="293448"/>
                </a:solidFill>
                <a:latin typeface="Arial"/>
                <a:ea typeface="Arial"/>
                <a:cs typeface="Arial"/>
              </a:rPr>
              <a:t>Await supplier resolution</a:t>
            </a:r>
          </a:p>
        </p:txBody>
      </p:sp>
      <p:sp>
        <p:nvSpPr>
          <p:cNvPr id="13" name="">
            <a:extLst xmlns:a="http://schemas.openxmlformats.org/drawingml/2006/main">
              <a:ext uri="{FF2B5EF4-FFF2-40B4-BE49-F238E27FC236}">
                <a16:creationId xmlns:a16="http://schemas.microsoft.com/office/drawing/2014/main" id="{B8C30CF7-E574-4A64-AFA1-B3D668EE81BD}"/>
              </a:ext>
            </a:extLst>
          </p:cNvPr>
          <p:cNvSpPr>
            <a:spLocks xmlns:a="http://schemas.openxmlformats.org/drawingml/2006/main" noGrp="1"/>
          </p:cNvSpPr>
          <p:nvPr/>
        </p:nvSpPr>
        <p:spPr>
          <a:xfrm xmlns:a="http://schemas.openxmlformats.org/drawingml/2006/main">
            <a:off x="609600" y="5248275"/>
            <a:ext cx="10668000" cy="9525"/>
          </a:xfrm>
          <a:prstGeom xmlns:a="http://schemas.openxmlformats.org/drawingml/2006/main" prst="rect">
            <a:avLst/>
          </a:prstGeom>
          <a:solidFill xmlns:a="http://schemas.openxmlformats.org/drawingml/2006/main">
            <a:srgbClr val="E9EDF3"/>
          </a:solidFill>
          <a:ln xmlns:a="http://schemas.openxmlformats.org/drawingml/2006/main" w="9525">
            <a:solidFill>
              <a:srgbClr val="E9EDF3"/>
            </a:solidFill>
          </a:ln>
        </p:spPr>
      </p:sp>
      <p:sp>
        <p:nvSpPr>
          <p:cNvPr id="14" name="">
            <a:extLst xmlns:a="http://schemas.openxmlformats.org/drawingml/2006/main">
              <a:ext uri="{FF2B5EF4-FFF2-40B4-BE49-F238E27FC236}">
                <a16:creationId xmlns:a16="http://schemas.microsoft.com/office/drawing/2014/main" id="{DA97C443-245C-4B86-8EA7-942B3C80CDCD}"/>
              </a:ext>
            </a:extLst>
          </p:cNvPr>
          <p:cNvSpPr>
            <a:spLocks xmlns:a="http://schemas.openxmlformats.org/drawingml/2006/main" noGrp="1"/>
          </p:cNvSpPr>
          <p:nvPr/>
        </p:nvSpPr>
        <p:spPr>
          <a:xfrm xmlns:a="http://schemas.openxmlformats.org/drawingml/2006/main">
            <a:off x="609600" y="56197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59E6"/>
                </a:solidFill>
                <a:latin typeface="Arial"/>
                <a:ea typeface="Arial"/>
                <a:cs typeface="Arial"/>
              </a:defRPr>
            </a:pPr>
            <a:r>
              <a:rPr sz="2400" b="1">
                <a:solidFill>
                  <a:srgbClr val="2859E6"/>
                </a:solidFill>
                <a:latin typeface="Arial"/>
                <a:ea typeface="Arial"/>
                <a:cs typeface="Arial"/>
              </a:rPr>
              <a:t>CM-220 adds $40. Total received: $240. Discrepancy: $0.</a:t>
            </a:r>
          </a:p>
        </p:txBody>
      </p:sp>
    </p:spTree>
    <p:extLst>
      <p:ext uri="{BB962C8B-B14F-4D97-AF65-F5344CB8AC3E}">
        <p14:creationId xmlns:p14="http://schemas.microsoft.com/office/powerpoint/2010/main" val="11436132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1CAC14-95AD-42AA-A86D-CAEE197D41F6}"/>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1B2D"/>
                </a:solidFill>
                <a:latin typeface="Arial"/>
                <a:ea typeface="Arial"/>
                <a:cs typeface="Arial"/>
              </a:defRPr>
            </a:pPr>
            <a:r>
              <a:rPr sz="3600" b="1">
                <a:solidFill>
                  <a:srgbClr val="141B2D"/>
                </a:solidFill>
                <a:latin typeface="Arial"/>
                <a:ea typeface="Arial"/>
                <a:cs typeface="Arial"/>
              </a:rPr>
              <a:t>A workspace for the whole return</a:t>
            </a:r>
          </a:p>
        </p:txBody>
      </p:sp>
      <p:sp>
        <p:nvSpPr>
          <p:cNvPr id="2" name="">
            <a:extLst xmlns:a="http://schemas.openxmlformats.org/drawingml/2006/main">
              <a:ext uri="{FF2B5EF4-FFF2-40B4-BE49-F238E27FC236}">
                <a16:creationId xmlns:a16="http://schemas.microsoft.com/office/drawing/2014/main" id="{FA5AD93D-18AF-435D-B44A-00C9F634B8C1}"/>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3448"/>
                </a:solidFill>
                <a:latin typeface="Arial"/>
                <a:ea typeface="Arial"/>
                <a:cs typeface="Arial"/>
              </a:defRPr>
            </a:pPr>
            <a:r>
              <a:rPr sz="1200" b="0">
                <a:solidFill>
                  <a:srgbClr val="29344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E9B5CEB-4423-4641-AC06-872298561EC0}"/>
              </a:ext>
            </a:extLst>
          </p:cNvPr>
          <p:cNvSpPr>
            <a:spLocks xmlns:a="http://schemas.openxmlformats.org/drawingml/2006/main" noGrp="1"/>
          </p:cNvSpPr>
          <p:nvPr/>
        </p:nvSpPr>
        <p:spPr>
          <a:xfrm xmlns:a="http://schemas.openxmlformats.org/drawingml/2006/main">
            <a:off x="609600" y="1885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59E6"/>
                </a:solidFill>
                <a:latin typeface="Arial"/>
                <a:ea typeface="Arial"/>
                <a:cs typeface="Arial"/>
              </a:defRPr>
            </a:pPr>
            <a:r>
              <a:rPr sz="2475" b="1">
                <a:solidFill>
                  <a:srgbClr val="2859E6"/>
                </a:solidFill>
                <a:latin typeface="Arial"/>
                <a:ea typeface="Arial"/>
                <a:cs typeface="Arial"/>
              </a:rPr>
              <a:t>Bench technician</a:t>
            </a:r>
          </a:p>
        </p:txBody>
      </p:sp>
      <p:sp>
        <p:nvSpPr>
          <p:cNvPr id="4" name="">
            <a:extLst xmlns:a="http://schemas.openxmlformats.org/drawingml/2006/main">
              <a:ext uri="{FF2B5EF4-FFF2-40B4-BE49-F238E27FC236}">
                <a16:creationId xmlns:a16="http://schemas.microsoft.com/office/drawing/2014/main" id="{87B8E17F-AEA8-428E-81EA-727B0CCD1DB5}"/>
              </a:ext>
            </a:extLst>
          </p:cNvPr>
          <p:cNvSpPr>
            <a:spLocks xmlns:a="http://schemas.openxmlformats.org/drawingml/2006/main" noGrp="1"/>
          </p:cNvSpPr>
          <p:nvPr/>
        </p:nvSpPr>
        <p:spPr>
          <a:xfrm xmlns:a="http://schemas.openxmlformats.org/drawingml/2006/main">
            <a:off x="609600" y="2724150"/>
            <a:ext cx="490537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1B2D"/>
                </a:solidFill>
                <a:latin typeface="Arial"/>
                <a:ea typeface="Arial"/>
                <a:cs typeface="Arial"/>
              </a:defRPr>
            </a:pPr>
            <a:r>
              <a:rPr sz="2400" b="0">
                <a:solidFill>
                  <a:srgbClr val="141B2D"/>
                </a:solidFill>
                <a:latin typeface="Arial"/>
                <a:ea typeface="Arial"/>
                <a:cs typeface="Arial"/>
              </a:rPr>
              <a:t>Voice inspection</a:t>
            </a:r>
          </a:p>
          <a:p xmlns:a="http://schemas.openxmlformats.org/drawingml/2006/main">
            <a:pPr>
              <a:defRPr sz="2400" b="0">
                <a:solidFill>
                  <a:srgbClr val="141B2D"/>
                </a:solidFill>
                <a:latin typeface="Arial"/>
                <a:ea typeface="Arial"/>
                <a:cs typeface="Arial"/>
              </a:defRPr>
            </a:pPr>
            <a:r>
              <a:rPr sz="2400" b="0">
                <a:solidFill>
                  <a:srgbClr val="141B2D"/>
                </a:solidFill>
                <a:latin typeface="Arial"/>
                <a:ea typeface="Arial"/>
                <a:cs typeface="Arial"/>
              </a:rPr>
              <a:t>Form fallback</a:t>
            </a:r>
          </a:p>
          <a:p xmlns:a="http://schemas.openxmlformats.org/drawingml/2006/main">
            <a:pPr>
              <a:defRPr sz="2400" b="0">
                <a:solidFill>
                  <a:srgbClr val="141B2D"/>
                </a:solidFill>
                <a:latin typeface="Arial"/>
                <a:ea typeface="Arial"/>
                <a:cs typeface="Arial"/>
              </a:defRPr>
            </a:pPr>
            <a:r>
              <a:rPr sz="2400" b="0">
                <a:solidFill>
                  <a:srgbClr val="141B2D"/>
                </a:solidFill>
                <a:latin typeface="Arial"/>
                <a:ea typeface="Arial"/>
                <a:cs typeface="Arial"/>
              </a:rPr>
              <a:t>Part and invoice evidence</a:t>
            </a:r>
          </a:p>
        </p:txBody>
      </p:sp>
      <p:sp>
        <p:nvSpPr>
          <p:cNvPr id="5" name="">
            <a:extLst xmlns:a="http://schemas.openxmlformats.org/drawingml/2006/main">
              <a:ext uri="{FF2B5EF4-FFF2-40B4-BE49-F238E27FC236}">
                <a16:creationId xmlns:a16="http://schemas.microsoft.com/office/drawing/2014/main" id="{AABF28C8-9D96-464E-BB00-7B1D8D717AE9}"/>
              </a:ext>
            </a:extLst>
          </p:cNvPr>
          <p:cNvSpPr>
            <a:spLocks xmlns:a="http://schemas.openxmlformats.org/drawingml/2006/main" noGrp="1"/>
          </p:cNvSpPr>
          <p:nvPr/>
        </p:nvSpPr>
        <p:spPr>
          <a:xfrm xmlns:a="http://schemas.openxmlformats.org/drawingml/2006/main">
            <a:off x="6429375" y="18859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59E6"/>
                </a:solidFill>
                <a:latin typeface="Arial"/>
                <a:ea typeface="Arial"/>
                <a:cs typeface="Arial"/>
              </a:defRPr>
            </a:pPr>
            <a:r>
              <a:rPr sz="2475" b="1">
                <a:solidFill>
                  <a:srgbClr val="2859E6"/>
                </a:solidFill>
                <a:latin typeface="Arial"/>
                <a:ea typeface="Arial"/>
                <a:cs typeface="Arial"/>
              </a:rPr>
              <a:t>Owner or parts manager</a:t>
            </a:r>
          </a:p>
        </p:txBody>
      </p:sp>
      <p:sp>
        <p:nvSpPr>
          <p:cNvPr id="6" name="">
            <a:extLst xmlns:a="http://schemas.openxmlformats.org/drawingml/2006/main">
              <a:ext uri="{FF2B5EF4-FFF2-40B4-BE49-F238E27FC236}">
                <a16:creationId xmlns:a16="http://schemas.microsoft.com/office/drawing/2014/main" id="{620F0ED7-9511-45AE-9787-3B4819CB8C1E}"/>
              </a:ext>
            </a:extLst>
          </p:cNvPr>
          <p:cNvSpPr>
            <a:spLocks xmlns:a="http://schemas.openxmlformats.org/drawingml/2006/main" noGrp="1"/>
          </p:cNvSpPr>
          <p:nvPr/>
        </p:nvSpPr>
        <p:spPr>
          <a:xfrm xmlns:a="http://schemas.openxmlformats.org/drawingml/2006/main">
            <a:off x="6429375" y="27241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1B2D"/>
                </a:solidFill>
                <a:latin typeface="Arial"/>
                <a:ea typeface="Arial"/>
                <a:cs typeface="Arial"/>
              </a:defRPr>
            </a:pPr>
            <a:r>
              <a:rPr sz="2400" b="0">
                <a:solidFill>
                  <a:srgbClr val="141B2D"/>
                </a:solidFill>
                <a:latin typeface="Arial"/>
                <a:ea typeface="Arial"/>
                <a:cs typeface="Arial"/>
              </a:rPr>
              <a:t>Return pack review</a:t>
            </a:r>
          </a:p>
          <a:p xmlns:a="http://schemas.openxmlformats.org/drawingml/2006/main">
            <a:pPr>
              <a:defRPr sz="2400" b="0">
                <a:solidFill>
                  <a:srgbClr val="141B2D"/>
                </a:solidFill>
                <a:latin typeface="Arial"/>
                <a:ea typeface="Arial"/>
                <a:cs typeface="Arial"/>
              </a:defRPr>
            </a:pPr>
            <a:r>
              <a:rPr sz="2400" b="0">
                <a:solidFill>
                  <a:srgbClr val="141B2D"/>
                </a:solidFill>
                <a:latin typeface="Arial"/>
                <a:ea typeface="Arial"/>
                <a:cs typeface="Arial"/>
              </a:rPr>
              <a:t>Dispatch record</a:t>
            </a:r>
          </a:p>
          <a:p xmlns:a="http://schemas.openxmlformats.org/drawingml/2006/main">
            <a:pPr>
              <a:defRPr sz="2400" b="0">
                <a:solidFill>
                  <a:srgbClr val="141B2D"/>
                </a:solidFill>
                <a:latin typeface="Arial"/>
                <a:ea typeface="Arial"/>
                <a:cs typeface="Arial"/>
              </a:defRPr>
            </a:pPr>
            <a:r>
              <a:rPr sz="2400" b="0">
                <a:solidFill>
                  <a:srgbClr val="141B2D"/>
                </a:solidFill>
                <a:latin typeface="Arial"/>
                <a:ea typeface="Arial"/>
                <a:cs typeface="Arial"/>
              </a:rPr>
              <a:t>Credit reconciliation</a:t>
            </a:r>
          </a:p>
        </p:txBody>
      </p:sp>
      <p:sp>
        <p:nvSpPr>
          <p:cNvPr id="7" name="">
            <a:extLst xmlns:a="http://schemas.openxmlformats.org/drawingml/2006/main">
              <a:ext uri="{FF2B5EF4-FFF2-40B4-BE49-F238E27FC236}">
                <a16:creationId xmlns:a16="http://schemas.microsoft.com/office/drawing/2014/main" id="{BC993629-4D82-4A9E-A657-02B27BE0D8D3}"/>
              </a:ext>
            </a:extLst>
          </p:cNvPr>
          <p:cNvSpPr>
            <a:spLocks xmlns:a="http://schemas.openxmlformats.org/drawingml/2006/main" noGrp="1"/>
          </p:cNvSpPr>
          <p:nvPr/>
        </p:nvSpPr>
        <p:spPr>
          <a:xfrm xmlns:a="http://schemas.openxmlformats.org/drawingml/2006/main">
            <a:off x="609600" y="5010150"/>
            <a:ext cx="10668000" cy="9525"/>
          </a:xfrm>
          <a:prstGeom xmlns:a="http://schemas.openxmlformats.org/drawingml/2006/main" prst="rect">
            <a:avLst/>
          </a:prstGeom>
          <a:solidFill xmlns:a="http://schemas.openxmlformats.org/drawingml/2006/main">
            <a:srgbClr val="E9EDF3"/>
          </a:solidFill>
          <a:ln xmlns:a="http://schemas.openxmlformats.org/drawingml/2006/main" w="9525">
            <a:solidFill>
              <a:srgbClr val="E9EDF3"/>
            </a:solidFill>
          </a:ln>
        </p:spPr>
      </p:sp>
      <p:sp>
        <p:nvSpPr>
          <p:cNvPr id="8" name="">
            <a:extLst xmlns:a="http://schemas.openxmlformats.org/drawingml/2006/main">
              <a:ext uri="{FF2B5EF4-FFF2-40B4-BE49-F238E27FC236}">
                <a16:creationId xmlns:a16="http://schemas.microsoft.com/office/drawing/2014/main" id="{AB27171B-D048-4CFC-AE5A-F5ECD79DCAF4}"/>
              </a:ext>
            </a:extLst>
          </p:cNvPr>
          <p:cNvSpPr>
            <a:spLocks xmlns:a="http://schemas.openxmlformats.org/drawingml/2006/main" noGrp="1"/>
          </p:cNvSpPr>
          <p:nvPr/>
        </p:nvSpPr>
        <p:spPr>
          <a:xfrm xmlns:a="http://schemas.openxmlformats.org/drawingml/2006/main">
            <a:off x="609600" y="54102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B2D"/>
                </a:solidFill>
                <a:latin typeface="Arial"/>
                <a:ea typeface="Arial"/>
                <a:cs typeface="Arial"/>
              </a:defRPr>
            </a:pPr>
            <a:r>
              <a:rPr sz="2025" b="1">
                <a:solidFill>
                  <a:srgbClr val="141B2D"/>
                </a:solidFill>
                <a:latin typeface="Arial"/>
                <a:ea typeface="Arial"/>
                <a:cs typeface="Arial"/>
              </a:rPr>
              <a:t>Account login and isolated workspace</a:t>
            </a:r>
          </a:p>
        </p:txBody>
      </p:sp>
      <p:sp>
        <p:nvSpPr>
          <p:cNvPr id="9" name="">
            <a:extLst xmlns:a="http://schemas.openxmlformats.org/drawingml/2006/main">
              <a:ext uri="{FF2B5EF4-FFF2-40B4-BE49-F238E27FC236}">
                <a16:creationId xmlns:a16="http://schemas.microsoft.com/office/drawing/2014/main" id="{FA79E28D-4AB3-4739-BD70-73D37B14C2FF}"/>
              </a:ext>
            </a:extLst>
          </p:cNvPr>
          <p:cNvSpPr>
            <a:spLocks xmlns:a="http://schemas.openxmlformats.org/drawingml/2006/main" noGrp="1"/>
          </p:cNvSpPr>
          <p:nvPr/>
        </p:nvSpPr>
        <p:spPr>
          <a:xfrm xmlns:a="http://schemas.openxmlformats.org/drawingml/2006/main">
            <a:off x="609600" y="5905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3448"/>
                </a:solidFill>
                <a:latin typeface="Arial"/>
                <a:ea typeface="Arial"/>
                <a:cs typeface="Arial"/>
              </a:defRPr>
            </a:pPr>
            <a:r>
              <a:rPr sz="1875" b="0">
                <a:solidFill>
                  <a:srgbClr val="293448"/>
                </a:solidFill>
                <a:latin typeface="Arial"/>
                <a:ea typeface="Arial"/>
                <a:cs typeface="Arial"/>
              </a:rPr>
              <a:t>Imports and exports / History / Policy configuration</a:t>
            </a:r>
          </a:p>
        </p:txBody>
      </p:sp>
    </p:spTree>
    <p:extLst>
      <p:ext uri="{BB962C8B-B14F-4D97-AF65-F5344CB8AC3E}">
        <p14:creationId xmlns:p14="http://schemas.microsoft.com/office/powerpoint/2010/main" val="882276913"/>
      </p:ext>
    </p:extLst>
  </p:cSld>
</p:sld>
</file>

<file path=ppt/slides/slide7.xml><?xml version="1.0" encoding="utf-8"?>
<p:sld xmlns:p="http://schemas.openxmlformats.org/presentationml/2006/main">
  <p:cSld>
    <p:bg>
      <p:bgPr>
        <a:solidFill xmlns:a="http://schemas.openxmlformats.org/drawingml/2006/main">
          <a:srgbClr val="141B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733250-D093-4208-94C0-C86C240BE1A8}"/>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 focused buyer and a testable price</a:t>
            </a:r>
          </a:p>
        </p:txBody>
      </p:sp>
      <p:sp>
        <p:nvSpPr>
          <p:cNvPr id="2" name="">
            <a:extLst xmlns:a="http://schemas.openxmlformats.org/drawingml/2006/main">
              <a:ext uri="{FF2B5EF4-FFF2-40B4-BE49-F238E27FC236}">
                <a16:creationId xmlns:a16="http://schemas.microsoft.com/office/drawing/2014/main" id="{34508DC3-7ABD-4792-8CF6-A2B91F9323FB}"/>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DA8BD"/>
                </a:solidFill>
                <a:latin typeface="Arial"/>
                <a:ea typeface="Arial"/>
                <a:cs typeface="Arial"/>
              </a:defRPr>
            </a:pPr>
            <a:r>
              <a:rPr sz="1200" b="0">
                <a:solidFill>
                  <a:srgbClr val="9DA8B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B34D5D2-1DEB-4E76-8CE8-4FC3220E8621}"/>
              </a:ext>
            </a:extLst>
          </p:cNvPr>
          <p:cNvSpPr>
            <a:spLocks xmlns:a="http://schemas.openxmlformats.org/drawingml/2006/main" noGrp="1"/>
          </p:cNvSpPr>
          <p:nvPr/>
        </p:nvSpPr>
        <p:spPr>
          <a:xfrm xmlns:a="http://schemas.openxmlformats.org/drawingml/2006/main">
            <a:off x="609600" y="16573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Independent diesel repair shops</a:t>
            </a:r>
          </a:p>
        </p:txBody>
      </p:sp>
      <p:sp>
        <p:nvSpPr>
          <p:cNvPr id="4" name="">
            <a:extLst xmlns:a="http://schemas.openxmlformats.org/drawingml/2006/main">
              <a:ext uri="{FF2B5EF4-FFF2-40B4-BE49-F238E27FC236}">
                <a16:creationId xmlns:a16="http://schemas.microsoft.com/office/drawing/2014/main" id="{A7BFBB89-D6C7-4171-A22A-32D019543666}"/>
              </a:ext>
            </a:extLst>
          </p:cNvPr>
          <p:cNvSpPr>
            <a:spLocks xmlns:a="http://schemas.openxmlformats.org/drawingml/2006/main" noGrp="1"/>
          </p:cNvSpPr>
          <p:nvPr/>
        </p:nvSpPr>
        <p:spPr>
          <a:xfrm xmlns:a="http://schemas.openxmlformats.org/drawingml/2006/main">
            <a:off x="609600" y="22098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9EDF3"/>
                </a:solidFill>
                <a:latin typeface="Arial"/>
                <a:ea typeface="Arial"/>
                <a:cs typeface="Arial"/>
              </a:defRPr>
            </a:pPr>
            <a:r>
              <a:rPr sz="2025" b="0">
                <a:solidFill>
                  <a:srgbClr val="E9EDF3"/>
                </a:solidFill>
                <a:latin typeface="Arial"/>
                <a:ea typeface="Arial"/>
                <a:cs typeface="Arial"/>
              </a:rPr>
              <a:t>Buyer: owner or parts manager</a:t>
            </a:r>
          </a:p>
        </p:txBody>
      </p:sp>
      <p:sp>
        <p:nvSpPr>
          <p:cNvPr id="5" name="">
            <a:extLst xmlns:a="http://schemas.openxmlformats.org/drawingml/2006/main">
              <a:ext uri="{FF2B5EF4-FFF2-40B4-BE49-F238E27FC236}">
                <a16:creationId xmlns:a16="http://schemas.microsoft.com/office/drawing/2014/main" id="{F2D9CFE8-3812-4AD9-95A1-AC1DE973E4A4}"/>
              </a:ext>
            </a:extLst>
          </p:cNvPr>
          <p:cNvSpPr>
            <a:spLocks xmlns:a="http://schemas.openxmlformats.org/drawingml/2006/main" noGrp="1"/>
          </p:cNvSpPr>
          <p:nvPr/>
        </p:nvSpPr>
        <p:spPr>
          <a:xfrm xmlns:a="http://schemas.openxmlformats.org/drawingml/2006/main">
            <a:off x="609600" y="320040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C5EF69"/>
                </a:solidFill>
                <a:latin typeface="Arial"/>
                <a:ea typeface="Arial"/>
                <a:cs typeface="Arial"/>
              </a:defRPr>
            </a:pPr>
            <a:r>
              <a:rPr sz="8100" b="1">
                <a:solidFill>
                  <a:srgbClr val="C5EF69"/>
                </a:solidFill>
                <a:latin typeface="Arial"/>
                <a:ea typeface="Arial"/>
                <a:cs typeface="Arial"/>
              </a:rPr>
              <a:t>$99</a:t>
            </a:r>
          </a:p>
        </p:txBody>
      </p:sp>
      <p:sp>
        <p:nvSpPr>
          <p:cNvPr id="6" name="">
            <a:extLst xmlns:a="http://schemas.openxmlformats.org/drawingml/2006/main">
              <a:ext uri="{FF2B5EF4-FFF2-40B4-BE49-F238E27FC236}">
                <a16:creationId xmlns:a16="http://schemas.microsoft.com/office/drawing/2014/main" id="{BA75591F-5811-41BA-89DC-4C055B6B49F3}"/>
              </a:ext>
            </a:extLst>
          </p:cNvPr>
          <p:cNvSpPr>
            <a:spLocks xmlns:a="http://schemas.openxmlformats.org/drawingml/2006/main" noGrp="1"/>
          </p:cNvSpPr>
          <p:nvPr/>
        </p:nvSpPr>
        <p:spPr>
          <a:xfrm xmlns:a="http://schemas.openxmlformats.org/drawingml/2006/main">
            <a:off x="609600" y="46958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per location / month</a:t>
            </a:r>
          </a:p>
        </p:txBody>
      </p:sp>
      <p:sp>
        <p:nvSpPr>
          <p:cNvPr id="7" name="">
            <a:extLst xmlns:a="http://schemas.openxmlformats.org/drawingml/2006/main">
              <a:ext uri="{FF2B5EF4-FFF2-40B4-BE49-F238E27FC236}">
                <a16:creationId xmlns:a16="http://schemas.microsoft.com/office/drawing/2014/main" id="{20368D87-9A96-4C03-93AD-D2FFFB696C38}"/>
              </a:ext>
            </a:extLst>
          </p:cNvPr>
          <p:cNvSpPr>
            <a:spLocks xmlns:a="http://schemas.openxmlformats.org/drawingml/2006/main" noGrp="1"/>
          </p:cNvSpPr>
          <p:nvPr/>
        </p:nvSpPr>
        <p:spPr>
          <a:xfrm xmlns:a="http://schemas.openxmlformats.org/drawingml/2006/main">
            <a:off x="609600" y="54959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DA8BD"/>
                </a:solidFill>
                <a:latin typeface="Arial"/>
                <a:ea typeface="Arial"/>
                <a:cs typeface="Arial"/>
              </a:defRPr>
            </a:pPr>
            <a:r>
              <a:rPr sz="1650" b="0">
                <a:solidFill>
                  <a:srgbClr val="9DA8BD"/>
                </a:solidFill>
                <a:latin typeface="Arial"/>
                <a:ea typeface="Arial"/>
                <a:cs typeface="Arial"/>
              </a:rPr>
              <a:t>Proposed pricing</a:t>
            </a:r>
          </a:p>
        </p:txBody>
      </p:sp>
      <p:sp>
        <p:nvSpPr>
          <p:cNvPr id="8" name="">
            <a:extLst xmlns:a="http://schemas.openxmlformats.org/drawingml/2006/main">
              <a:ext uri="{FF2B5EF4-FFF2-40B4-BE49-F238E27FC236}">
                <a16:creationId xmlns:a16="http://schemas.microsoft.com/office/drawing/2014/main" id="{F9C2F152-DA57-42A1-ACB2-8B155A9BE0CE}"/>
              </a:ext>
            </a:extLst>
          </p:cNvPr>
          <p:cNvSpPr>
            <a:spLocks xmlns:a="http://schemas.openxmlformats.org/drawingml/2006/main" noGrp="1"/>
          </p:cNvSpPr>
          <p:nvPr/>
        </p:nvSpPr>
        <p:spPr>
          <a:xfrm xmlns:a="http://schemas.openxmlformats.org/drawingml/2006/main">
            <a:off x="6524625" y="3352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200 included voice minutes</a:t>
            </a:r>
          </a:p>
        </p:txBody>
      </p:sp>
      <p:sp>
        <p:nvSpPr>
          <p:cNvPr id="9" name="">
            <a:extLst xmlns:a="http://schemas.openxmlformats.org/drawingml/2006/main">
              <a:ext uri="{FF2B5EF4-FFF2-40B4-BE49-F238E27FC236}">
                <a16:creationId xmlns:a16="http://schemas.microsoft.com/office/drawing/2014/main" id="{4289889F-D3BB-4714-8453-A669ED43FFA6}"/>
              </a:ext>
            </a:extLst>
          </p:cNvPr>
          <p:cNvSpPr>
            <a:spLocks xmlns:a="http://schemas.openxmlformats.org/drawingml/2006/main" noGrp="1"/>
          </p:cNvSpPr>
          <p:nvPr/>
        </p:nvSpPr>
        <p:spPr>
          <a:xfrm xmlns:a="http://schemas.openxmlformats.org/drawingml/2006/main">
            <a:off x="6524625" y="41433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C5EF69"/>
                </a:solidFill>
                <a:latin typeface="Arial"/>
                <a:ea typeface="Arial"/>
                <a:cs typeface="Arial"/>
              </a:defRPr>
            </a:pPr>
            <a:r>
              <a:rPr sz="2475" b="1">
                <a:solidFill>
                  <a:srgbClr val="C5EF69"/>
                </a:solidFill>
                <a:latin typeface="Arial"/>
                <a:ea typeface="Arial"/>
                <a:cs typeface="Arial"/>
              </a:rPr>
              <a:t>$15 provider voice cost</a:t>
            </a:r>
          </a:p>
        </p:txBody>
      </p:sp>
      <p:sp>
        <p:nvSpPr>
          <p:cNvPr id="10" name="">
            <a:extLst xmlns:a="http://schemas.openxmlformats.org/drawingml/2006/main">
              <a:ext uri="{FF2B5EF4-FFF2-40B4-BE49-F238E27FC236}">
                <a16:creationId xmlns:a16="http://schemas.microsoft.com/office/drawing/2014/main" id="{15907C75-8CCC-45DD-A53F-1C4C4EEDF01C}"/>
              </a:ext>
            </a:extLst>
          </p:cNvPr>
          <p:cNvSpPr>
            <a:spLocks xmlns:a="http://schemas.openxmlformats.org/drawingml/2006/main" noGrp="1"/>
          </p:cNvSpPr>
          <p:nvPr/>
        </p:nvSpPr>
        <p:spPr>
          <a:xfrm xmlns:a="http://schemas.openxmlformats.org/drawingml/2006/main">
            <a:off x="6524625" y="49625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9EDF3"/>
                </a:solidFill>
                <a:latin typeface="Arial"/>
                <a:ea typeface="Arial"/>
                <a:cs typeface="Arial"/>
              </a:defRPr>
            </a:pPr>
            <a:r>
              <a:rPr sz="1950" b="0">
                <a:solidFill>
                  <a:srgbClr val="E9EDF3"/>
                </a:solidFill>
                <a:latin typeface="Arial"/>
                <a:ea typeface="Arial"/>
                <a:cs typeface="Arial"/>
              </a:rPr>
              <a:t>At $0.075/minute. Excludes hosting,</a:t>
            </a:r>
          </a:p>
          <a:p xmlns:a="http://schemas.openxmlformats.org/drawingml/2006/main">
            <a:pPr>
              <a:defRPr sz="1950" b="0">
                <a:solidFill>
                  <a:srgbClr val="E9EDF3"/>
                </a:solidFill>
                <a:latin typeface="Arial"/>
                <a:ea typeface="Arial"/>
                <a:cs typeface="Arial"/>
              </a:defRPr>
            </a:pPr>
            <a:r>
              <a:rPr sz="1950" b="0">
                <a:solidFill>
                  <a:srgbClr val="E9EDF3"/>
                </a:solidFill>
                <a:latin typeface="Arial"/>
                <a:ea typeface="Arial"/>
                <a:cs typeface="Arial"/>
              </a:rPr>
              <a:t>support and other operating costs.</a:t>
            </a:r>
          </a:p>
        </p:txBody>
      </p:sp>
    </p:spTree>
    <p:extLst>
      <p:ext uri="{BB962C8B-B14F-4D97-AF65-F5344CB8AC3E}">
        <p14:creationId xmlns:p14="http://schemas.microsoft.com/office/powerpoint/2010/main" val="18887918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C400CC-EB12-4788-A146-0F04F3DB39BB}"/>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1B2D"/>
                </a:solidFill>
                <a:latin typeface="Arial"/>
                <a:ea typeface="Arial"/>
                <a:cs typeface="Arial"/>
              </a:defRPr>
            </a:pPr>
            <a:r>
              <a:rPr sz="3600" b="1">
                <a:solidFill>
                  <a:srgbClr val="141B2D"/>
                </a:solidFill>
                <a:latin typeface="Arial"/>
                <a:ea typeface="Arial"/>
                <a:cs typeface="Arial"/>
              </a:rPr>
              <a:t>The wedge is work at the bench</a:t>
            </a:r>
          </a:p>
        </p:txBody>
      </p:sp>
      <p:sp>
        <p:nvSpPr>
          <p:cNvPr id="2" name="">
            <a:extLst xmlns:a="http://schemas.openxmlformats.org/drawingml/2006/main">
              <a:ext uri="{FF2B5EF4-FFF2-40B4-BE49-F238E27FC236}">
                <a16:creationId xmlns:a16="http://schemas.microsoft.com/office/drawing/2014/main" id="{76091A04-76BB-412D-9E3A-F72A33CA941F}"/>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3448"/>
                </a:solidFill>
                <a:latin typeface="Arial"/>
                <a:ea typeface="Arial"/>
                <a:cs typeface="Arial"/>
              </a:defRPr>
            </a:pPr>
            <a:r>
              <a:rPr sz="1200" b="0">
                <a:solidFill>
                  <a:srgbClr val="29344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3CD8B30-2CB5-4E7B-9C21-4EFE918BCE3E}"/>
              </a:ext>
            </a:extLst>
          </p:cNvPr>
          <p:cNvSpPr>
            <a:spLocks xmlns:a="http://schemas.openxmlformats.org/drawingml/2006/main" noGrp="1"/>
          </p:cNvSpPr>
          <p:nvPr/>
        </p:nvSpPr>
        <p:spPr>
          <a:xfrm xmlns:a="http://schemas.openxmlformats.org/drawingml/2006/main">
            <a:off x="609600" y="167640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1B2D"/>
                </a:solidFill>
                <a:latin typeface="Arial"/>
                <a:ea typeface="Arial"/>
                <a:cs typeface="Arial"/>
              </a:defRPr>
            </a:pPr>
            <a:r>
              <a:rPr sz="2775" b="1">
                <a:solidFill>
                  <a:srgbClr val="141B2D"/>
                </a:solidFill>
                <a:latin typeface="Arial"/>
                <a:ea typeface="Arial"/>
                <a:cs typeface="Arial"/>
              </a:rPr>
              <a:t>Fullbay already tracks parts cores</a:t>
            </a:r>
          </a:p>
        </p:txBody>
      </p:sp>
      <p:sp>
        <p:nvSpPr>
          <p:cNvPr id="4" name="">
            <a:extLst xmlns:a="http://schemas.openxmlformats.org/drawingml/2006/main">
              <a:ext uri="{FF2B5EF4-FFF2-40B4-BE49-F238E27FC236}">
                <a16:creationId xmlns:a16="http://schemas.microsoft.com/office/drawing/2014/main" id="{23BDEF85-D0D3-4D59-A5EB-CAE3211A8DF9}"/>
              </a:ext>
            </a:extLst>
          </p:cNvPr>
          <p:cNvSpPr>
            <a:spLocks xmlns:a="http://schemas.openxmlformats.org/drawingml/2006/main" noGrp="1"/>
          </p:cNvSpPr>
          <p:nvPr/>
        </p:nvSpPr>
        <p:spPr>
          <a:xfrm xmlns:a="http://schemas.openxmlformats.org/drawingml/2006/main">
            <a:off x="609600" y="2638425"/>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859E6"/>
                </a:solidFill>
                <a:latin typeface="Arial"/>
                <a:ea typeface="Arial"/>
                <a:cs typeface="Arial"/>
              </a:defRPr>
            </a:pPr>
            <a:r>
              <a:rPr sz="2775" b="1">
                <a:solidFill>
                  <a:srgbClr val="2859E6"/>
                </a:solidFill>
                <a:latin typeface="Arial"/>
                <a:ea typeface="Arial"/>
                <a:cs typeface="Arial"/>
              </a:rPr>
              <a:t>Benchback starts with a narrower job: a technician talking through an alternator or starter, then completing the return through actual credit.</a:t>
            </a:r>
          </a:p>
        </p:txBody>
      </p:sp>
      <p:sp>
        <p:nvSpPr>
          <p:cNvPr id="5" name="">
            <a:extLst xmlns:a="http://schemas.openxmlformats.org/drawingml/2006/main">
              <a:ext uri="{FF2B5EF4-FFF2-40B4-BE49-F238E27FC236}">
                <a16:creationId xmlns:a16="http://schemas.microsoft.com/office/drawing/2014/main" id="{140DF9A7-F5E7-46CA-8817-C4C7F10EF59D}"/>
              </a:ext>
            </a:extLst>
          </p:cNvPr>
          <p:cNvSpPr>
            <a:spLocks xmlns:a="http://schemas.openxmlformats.org/drawingml/2006/main" noGrp="1"/>
          </p:cNvSpPr>
          <p:nvPr/>
        </p:nvSpPr>
        <p:spPr>
          <a:xfrm xmlns:a="http://schemas.openxmlformats.org/drawingml/2006/main">
            <a:off x="609600" y="4391025"/>
            <a:ext cx="10668000" cy="9525"/>
          </a:xfrm>
          <a:prstGeom xmlns:a="http://schemas.openxmlformats.org/drawingml/2006/main" prst="rect">
            <a:avLst/>
          </a:prstGeom>
          <a:solidFill xmlns:a="http://schemas.openxmlformats.org/drawingml/2006/main">
            <a:srgbClr val="E9EDF3"/>
          </a:solidFill>
          <a:ln xmlns:a="http://schemas.openxmlformats.org/drawingml/2006/main" w="9525">
            <a:solidFill>
              <a:srgbClr val="E9EDF3"/>
            </a:solidFill>
          </a:ln>
        </p:spPr>
      </p:sp>
      <p:sp>
        <p:nvSpPr>
          <p:cNvPr id="6" name="">
            <a:extLst xmlns:a="http://schemas.openxmlformats.org/drawingml/2006/main">
              <a:ext uri="{FF2B5EF4-FFF2-40B4-BE49-F238E27FC236}">
                <a16:creationId xmlns:a16="http://schemas.microsoft.com/office/drawing/2014/main" id="{D2C4B1CE-CF01-4158-B57B-F8CCCAD7F2F5}"/>
              </a:ext>
            </a:extLst>
          </p:cNvPr>
          <p:cNvSpPr>
            <a:spLocks xmlns:a="http://schemas.openxmlformats.org/drawingml/2006/main" noGrp="1"/>
          </p:cNvSpPr>
          <p:nvPr/>
        </p:nvSpPr>
        <p:spPr>
          <a:xfrm xmlns:a="http://schemas.openxmlformats.org/drawingml/2006/main">
            <a:off x="609600" y="49149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3448"/>
                </a:solidFill>
                <a:latin typeface="Arial"/>
                <a:ea typeface="Arial"/>
                <a:cs typeface="Arial"/>
              </a:defRPr>
            </a:pPr>
            <a:r>
              <a:rPr sz="1650" b="0">
                <a:solidFill>
                  <a:srgbClr val="293448"/>
                </a:solidFill>
                <a:latin typeface="Arial"/>
                <a:ea typeface="Arial"/>
                <a:cs typeface="Arial"/>
              </a:rPr>
              <a:t>Initial scope</a:t>
            </a:r>
          </a:p>
        </p:txBody>
      </p:sp>
      <p:sp>
        <p:nvSpPr>
          <p:cNvPr id="7" name="">
            <a:extLst xmlns:a="http://schemas.openxmlformats.org/drawingml/2006/main">
              <a:ext uri="{FF2B5EF4-FFF2-40B4-BE49-F238E27FC236}">
                <a16:creationId xmlns:a16="http://schemas.microsoft.com/office/drawing/2014/main" id="{2EBF93E7-57E6-4F98-9228-913A3D90E58C}"/>
              </a:ext>
            </a:extLst>
          </p:cNvPr>
          <p:cNvSpPr>
            <a:spLocks xmlns:a="http://schemas.openxmlformats.org/drawingml/2006/main" noGrp="1"/>
          </p:cNvSpPr>
          <p:nvPr/>
        </p:nvSpPr>
        <p:spPr>
          <a:xfrm xmlns:a="http://schemas.openxmlformats.org/drawingml/2006/main">
            <a:off x="609600" y="5391150"/>
            <a:ext cx="542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1B2D"/>
                </a:solidFill>
                <a:latin typeface="Arial"/>
                <a:ea typeface="Arial"/>
                <a:cs typeface="Arial"/>
              </a:defRPr>
            </a:pPr>
            <a:r>
              <a:rPr sz="2850" b="1">
                <a:solidFill>
                  <a:srgbClr val="141B2D"/>
                </a:solidFill>
                <a:latin typeface="Arial"/>
                <a:ea typeface="Arial"/>
                <a:cs typeface="Arial"/>
              </a:rPr>
              <a:t>Alternators + starters</a:t>
            </a:r>
          </a:p>
        </p:txBody>
      </p:sp>
      <p:sp>
        <p:nvSpPr>
          <p:cNvPr id="8" name="">
            <a:extLst xmlns:a="http://schemas.openxmlformats.org/drawingml/2006/main">
              <a:ext uri="{FF2B5EF4-FFF2-40B4-BE49-F238E27FC236}">
                <a16:creationId xmlns:a16="http://schemas.microsoft.com/office/drawing/2014/main" id="{E7CBE376-4FEC-4D3D-BFF4-24DE7C281BDA}"/>
              </a:ext>
            </a:extLst>
          </p:cNvPr>
          <p:cNvSpPr>
            <a:spLocks xmlns:a="http://schemas.openxmlformats.org/drawingml/2006/main" noGrp="1"/>
          </p:cNvSpPr>
          <p:nvPr/>
        </p:nvSpPr>
        <p:spPr>
          <a:xfrm xmlns:a="http://schemas.openxmlformats.org/drawingml/2006/main">
            <a:off x="6477000" y="49149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3448"/>
                </a:solidFill>
                <a:latin typeface="Arial"/>
                <a:ea typeface="Arial"/>
                <a:cs typeface="Arial"/>
              </a:defRPr>
            </a:pPr>
            <a:r>
              <a:rPr sz="1650" b="0">
                <a:solidFill>
                  <a:srgbClr val="293448"/>
                </a:solidFill>
                <a:latin typeface="Arial"/>
                <a:ea typeface="Arial"/>
                <a:cs typeface="Arial"/>
              </a:rPr>
              <a:t>Product hypothesis</a:t>
            </a:r>
          </a:p>
        </p:txBody>
      </p:sp>
      <p:sp>
        <p:nvSpPr>
          <p:cNvPr id="9" name="">
            <a:extLst xmlns:a="http://schemas.openxmlformats.org/drawingml/2006/main">
              <a:ext uri="{FF2B5EF4-FFF2-40B4-BE49-F238E27FC236}">
                <a16:creationId xmlns:a16="http://schemas.microsoft.com/office/drawing/2014/main" id="{F5D63CF6-1B89-4DA5-AD6E-1716677DF15E}"/>
              </a:ext>
            </a:extLst>
          </p:cNvPr>
          <p:cNvSpPr>
            <a:spLocks xmlns:a="http://schemas.openxmlformats.org/drawingml/2006/main" noGrp="1"/>
          </p:cNvSpPr>
          <p:nvPr/>
        </p:nvSpPr>
        <p:spPr>
          <a:xfrm xmlns:a="http://schemas.openxmlformats.org/drawingml/2006/main">
            <a:off x="6477000" y="539115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1B2D"/>
                </a:solidFill>
                <a:latin typeface="Arial"/>
                <a:ea typeface="Arial"/>
                <a:cs typeface="Arial"/>
              </a:defRPr>
            </a:pPr>
            <a:r>
              <a:rPr sz="2400" b="1">
                <a:solidFill>
                  <a:srgbClr val="141B2D"/>
                </a:solidFill>
                <a:latin typeface="Arial"/>
                <a:ea typeface="Arial"/>
                <a:cs typeface="Arial"/>
              </a:rPr>
              <a:t>Bench evidence + controlled returns</a:t>
            </a:r>
          </a:p>
        </p:txBody>
      </p:sp>
    </p:spTree>
    <p:extLst>
      <p:ext uri="{BB962C8B-B14F-4D97-AF65-F5344CB8AC3E}">
        <p14:creationId xmlns:p14="http://schemas.microsoft.com/office/powerpoint/2010/main" val="1040219891"/>
      </p:ext>
    </p:extLst>
  </p:cSld>
</p:sld>
</file>

<file path=ppt/slides/slide9.xml><?xml version="1.0" encoding="utf-8"?>
<p:sld xmlns:p="http://schemas.openxmlformats.org/presentationml/2006/main">
  <p:cSld>
    <p:bg>
      <p:bgPr>
        <a:solidFill xmlns:a="http://schemas.openxmlformats.org/drawingml/2006/main">
          <a:srgbClr val="141B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A0F2BBC-85C0-4981-AD9B-2ADA3D249E61}"/>
              </a:ext>
            </a:extLst>
          </p:cNvPr>
          <p:cNvSpPr>
            <a:spLocks xmlns:a="http://schemas.openxmlformats.org/drawingml/2006/main" noGrp="1"/>
          </p:cNvSpPr>
          <p:nvPr/>
        </p:nvSpPr>
        <p:spPr>
          <a:xfrm xmlns:a="http://schemas.openxmlformats.org/drawingml/2006/main">
            <a:off x="609600" y="4572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The next pilot measures credited dollars</a:t>
            </a:r>
          </a:p>
        </p:txBody>
      </p:sp>
      <p:sp>
        <p:nvSpPr>
          <p:cNvPr id="2" name="">
            <a:extLst xmlns:a="http://schemas.openxmlformats.org/drawingml/2006/main">
              <a:ext uri="{FF2B5EF4-FFF2-40B4-BE49-F238E27FC236}">
                <a16:creationId xmlns:a16="http://schemas.microsoft.com/office/drawing/2014/main" id="{618E7351-2B2D-43F8-A973-791CB01CE93C}"/>
              </a:ext>
            </a:extLst>
          </p:cNvPr>
          <p:cNvSpPr>
            <a:spLocks xmlns:a="http://schemas.openxmlformats.org/drawingml/2006/main" noGrp="1"/>
          </p:cNvSpPr>
          <p:nvPr/>
        </p:nvSpPr>
        <p:spPr>
          <a:xfrm xmlns:a="http://schemas.openxmlformats.org/drawingml/2006/main">
            <a:off x="11144250" y="63341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DA8BD"/>
                </a:solidFill>
                <a:latin typeface="Arial"/>
                <a:ea typeface="Arial"/>
                <a:cs typeface="Arial"/>
              </a:defRPr>
            </a:pPr>
            <a:r>
              <a:rPr sz="1200" b="0">
                <a:solidFill>
                  <a:srgbClr val="9DA8B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F93673B-8E53-442E-B372-45FD93B33B41}"/>
              </a:ext>
            </a:extLst>
          </p:cNvPr>
          <p:cNvSpPr>
            <a:spLocks xmlns:a="http://schemas.openxmlformats.org/drawingml/2006/main" noGrp="1"/>
          </p:cNvSpPr>
          <p:nvPr/>
        </p:nvSpPr>
        <p:spPr>
          <a:xfrm xmlns:a="http://schemas.openxmlformats.org/drawingml/2006/main">
            <a:off x="609600" y="1657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A small pilot with independent diesel shops</a:t>
            </a:r>
          </a:p>
        </p:txBody>
      </p:sp>
      <p:sp>
        <p:nvSpPr>
          <p:cNvPr id="4" name="">
            <a:extLst xmlns:a="http://schemas.openxmlformats.org/drawingml/2006/main">
              <a:ext uri="{FF2B5EF4-FFF2-40B4-BE49-F238E27FC236}">
                <a16:creationId xmlns:a16="http://schemas.microsoft.com/office/drawing/2014/main" id="{6FA1C0AB-30C1-47BC-8448-5AFD77A58C27}"/>
              </a:ext>
            </a:extLst>
          </p:cNvPr>
          <p:cNvSpPr>
            <a:spLocks xmlns:a="http://schemas.openxmlformats.org/drawingml/2006/main" noGrp="1"/>
          </p:cNvSpPr>
          <p:nvPr/>
        </p:nvSpPr>
        <p:spPr>
          <a:xfrm xmlns:a="http://schemas.openxmlformats.org/drawingml/2006/main">
            <a:off x="609600" y="2762250"/>
            <a:ext cx="61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C5EF69"/>
                </a:solidFill>
                <a:latin typeface="Arial"/>
                <a:ea typeface="Arial"/>
                <a:cs typeface="Arial"/>
              </a:defRPr>
            </a:pPr>
            <a:r>
              <a:rPr sz="3300" b="1">
                <a:solidFill>
                  <a:srgbClr val="C5EF69"/>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D13177FE-33FC-47D8-80CC-75CD75AE242B}"/>
              </a:ext>
            </a:extLst>
          </p:cNvPr>
          <p:cNvSpPr>
            <a:spLocks xmlns:a="http://schemas.openxmlformats.org/drawingml/2006/main" noGrp="1"/>
          </p:cNvSpPr>
          <p:nvPr/>
        </p:nvSpPr>
        <p:spPr>
          <a:xfrm xmlns:a="http://schemas.openxmlformats.org/drawingml/2006/main">
            <a:off x="1504950" y="27622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Load real policies</a:t>
            </a:r>
          </a:p>
        </p:txBody>
      </p:sp>
      <p:sp>
        <p:nvSpPr>
          <p:cNvPr id="6" name="">
            <a:extLst xmlns:a="http://schemas.openxmlformats.org/drawingml/2006/main">
              <a:ext uri="{FF2B5EF4-FFF2-40B4-BE49-F238E27FC236}">
                <a16:creationId xmlns:a16="http://schemas.microsoft.com/office/drawing/2014/main" id="{07A2F1F5-B62F-4E66-BFE4-57399D359BE5}"/>
              </a:ext>
            </a:extLst>
          </p:cNvPr>
          <p:cNvSpPr>
            <a:spLocks xmlns:a="http://schemas.openxmlformats.org/drawingml/2006/main" noGrp="1"/>
          </p:cNvSpPr>
          <p:nvPr/>
        </p:nvSpPr>
        <p:spPr>
          <a:xfrm xmlns:a="http://schemas.openxmlformats.org/drawingml/2006/main">
            <a:off x="1504950" y="318135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9EDF3"/>
                </a:solidFill>
                <a:latin typeface="Arial"/>
                <a:ea typeface="Arial"/>
                <a:cs typeface="Arial"/>
              </a:defRPr>
            </a:pPr>
            <a:r>
              <a:rPr sz="1875" b="0">
                <a:solidFill>
                  <a:srgbClr val="E9EDF3"/>
                </a:solidFill>
                <a:latin typeface="Arial"/>
                <a:ea typeface="Arial"/>
                <a:cs typeface="Arial"/>
              </a:rPr>
              <a:t>Confirm supplier terms and evidence requirements.</a:t>
            </a:r>
          </a:p>
        </p:txBody>
      </p:sp>
      <p:sp>
        <p:nvSpPr>
          <p:cNvPr id="7" name="">
            <a:extLst xmlns:a="http://schemas.openxmlformats.org/drawingml/2006/main">
              <a:ext uri="{FF2B5EF4-FFF2-40B4-BE49-F238E27FC236}">
                <a16:creationId xmlns:a16="http://schemas.microsoft.com/office/drawing/2014/main" id="{F33C2FEF-D846-4A61-BDCB-92A35B51F00E}"/>
              </a:ext>
            </a:extLst>
          </p:cNvPr>
          <p:cNvSpPr>
            <a:spLocks xmlns:a="http://schemas.openxmlformats.org/drawingml/2006/main" noGrp="1"/>
          </p:cNvSpPr>
          <p:nvPr/>
        </p:nvSpPr>
        <p:spPr>
          <a:xfrm xmlns:a="http://schemas.openxmlformats.org/drawingml/2006/main">
            <a:off x="609600" y="3790950"/>
            <a:ext cx="61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C5EF69"/>
                </a:solidFill>
                <a:latin typeface="Arial"/>
                <a:ea typeface="Arial"/>
                <a:cs typeface="Arial"/>
              </a:defRPr>
            </a:pPr>
            <a:r>
              <a:rPr sz="3300" b="1">
                <a:solidFill>
                  <a:srgbClr val="C5EF69"/>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EA4479A-E1E9-4DBD-8724-86588E5F76B9}"/>
              </a:ext>
            </a:extLst>
          </p:cNvPr>
          <p:cNvSpPr>
            <a:spLocks xmlns:a="http://schemas.openxmlformats.org/drawingml/2006/main" noGrp="1"/>
          </p:cNvSpPr>
          <p:nvPr/>
        </p:nvSpPr>
        <p:spPr>
          <a:xfrm xmlns:a="http://schemas.openxmlformats.org/drawingml/2006/main">
            <a:off x="1504950" y="37909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Follow real returns</a:t>
            </a:r>
          </a:p>
        </p:txBody>
      </p:sp>
      <p:sp>
        <p:nvSpPr>
          <p:cNvPr id="9" name="">
            <a:extLst xmlns:a="http://schemas.openxmlformats.org/drawingml/2006/main">
              <a:ext uri="{FF2B5EF4-FFF2-40B4-BE49-F238E27FC236}">
                <a16:creationId xmlns:a16="http://schemas.microsoft.com/office/drawing/2014/main" id="{B8C501F2-5A74-409F-8262-A039844711A2}"/>
              </a:ext>
            </a:extLst>
          </p:cNvPr>
          <p:cNvSpPr>
            <a:spLocks xmlns:a="http://schemas.openxmlformats.org/drawingml/2006/main" noGrp="1"/>
          </p:cNvSpPr>
          <p:nvPr/>
        </p:nvSpPr>
        <p:spPr>
          <a:xfrm xmlns:a="http://schemas.openxmlformats.org/drawingml/2006/main">
            <a:off x="1504950" y="421005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9EDF3"/>
                </a:solidFill>
                <a:latin typeface="Arial"/>
                <a:ea typeface="Arial"/>
                <a:cs typeface="Arial"/>
              </a:defRPr>
            </a:pPr>
            <a:r>
              <a:rPr sz="1875" b="0">
                <a:solidFill>
                  <a:srgbClr val="E9EDF3"/>
                </a:solidFill>
                <a:latin typeface="Arial"/>
                <a:ea typeface="Arial"/>
                <a:cs typeface="Arial"/>
              </a:rPr>
              <a:t>Measure approved packs, dispatches, and exceptions.</a:t>
            </a:r>
          </a:p>
        </p:txBody>
      </p:sp>
      <p:sp>
        <p:nvSpPr>
          <p:cNvPr id="10" name="">
            <a:extLst xmlns:a="http://schemas.openxmlformats.org/drawingml/2006/main">
              <a:ext uri="{FF2B5EF4-FFF2-40B4-BE49-F238E27FC236}">
                <a16:creationId xmlns:a16="http://schemas.microsoft.com/office/drawing/2014/main" id="{D3FB036E-22EC-49D2-B0CF-8CFA7797DFF7}"/>
              </a:ext>
            </a:extLst>
          </p:cNvPr>
          <p:cNvSpPr>
            <a:spLocks xmlns:a="http://schemas.openxmlformats.org/drawingml/2006/main" noGrp="1"/>
          </p:cNvSpPr>
          <p:nvPr/>
        </p:nvSpPr>
        <p:spPr>
          <a:xfrm xmlns:a="http://schemas.openxmlformats.org/drawingml/2006/main">
            <a:off x="609600" y="4819650"/>
            <a:ext cx="61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C5EF69"/>
                </a:solidFill>
                <a:latin typeface="Arial"/>
                <a:ea typeface="Arial"/>
                <a:cs typeface="Arial"/>
              </a:defRPr>
            </a:pPr>
            <a:r>
              <a:rPr sz="3300" b="1">
                <a:solidFill>
                  <a:srgbClr val="C5EF6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9EB347C9-43B8-4F52-A410-BF43DACD1D5F}"/>
              </a:ext>
            </a:extLst>
          </p:cNvPr>
          <p:cNvSpPr>
            <a:spLocks xmlns:a="http://schemas.openxmlformats.org/drawingml/2006/main" noGrp="1"/>
          </p:cNvSpPr>
          <p:nvPr/>
        </p:nvSpPr>
        <p:spPr>
          <a:xfrm xmlns:a="http://schemas.openxmlformats.org/drawingml/2006/main">
            <a:off x="1504950" y="4819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Reconcile real credits</a:t>
            </a:r>
          </a:p>
        </p:txBody>
      </p:sp>
      <p:sp>
        <p:nvSpPr>
          <p:cNvPr id="12" name="">
            <a:extLst xmlns:a="http://schemas.openxmlformats.org/drawingml/2006/main">
              <a:ext uri="{FF2B5EF4-FFF2-40B4-BE49-F238E27FC236}">
                <a16:creationId xmlns:a16="http://schemas.microsoft.com/office/drawing/2014/main" id="{56ADAE34-4EB8-48F0-8362-69EB3CA33408}"/>
              </a:ext>
            </a:extLst>
          </p:cNvPr>
          <p:cNvSpPr>
            <a:spLocks xmlns:a="http://schemas.openxmlformats.org/drawingml/2006/main" noGrp="1"/>
          </p:cNvSpPr>
          <p:nvPr/>
        </p:nvSpPr>
        <p:spPr>
          <a:xfrm xmlns:a="http://schemas.openxmlformats.org/drawingml/2006/main">
            <a:off x="1504950" y="523875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9EDF3"/>
                </a:solidFill>
                <a:latin typeface="Arial"/>
                <a:ea typeface="Arial"/>
                <a:cs typeface="Arial"/>
              </a:defRPr>
            </a:pPr>
            <a:r>
              <a:rPr sz="1875" b="0">
                <a:solidFill>
                  <a:srgbClr val="E9EDF3"/>
                </a:solidFill>
                <a:latin typeface="Arial"/>
                <a:ea typeface="Arial"/>
                <a:cs typeface="Arial"/>
              </a:rPr>
              <a:t>Track received dollars and unresolved discrepancies.</a:t>
            </a:r>
          </a:p>
        </p:txBody>
      </p:sp>
      <p:sp>
        <p:nvSpPr>
          <p:cNvPr id="13" name="">
            <a:extLst xmlns:a="http://schemas.openxmlformats.org/drawingml/2006/main">
              <a:ext uri="{FF2B5EF4-FFF2-40B4-BE49-F238E27FC236}">
                <a16:creationId xmlns:a16="http://schemas.microsoft.com/office/drawing/2014/main" id="{18F1CC6C-BBB0-4B41-8625-909AE603C394}"/>
              </a:ext>
            </a:extLst>
          </p:cNvPr>
          <p:cNvSpPr>
            <a:spLocks xmlns:a="http://schemas.openxmlformats.org/drawingml/2006/main" noGrp="1"/>
          </p:cNvSpPr>
          <p:nvPr/>
        </p:nvSpPr>
        <p:spPr>
          <a:xfrm xmlns:a="http://schemas.openxmlformats.org/drawingml/2006/main">
            <a:off x="609600" y="620077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5EF69"/>
                </a:solidFill>
                <a:latin typeface="Arial"/>
                <a:ea typeface="Arial"/>
                <a:cs typeface="Arial"/>
              </a:defRPr>
            </a:pPr>
            <a:r>
              <a:rPr sz="1800" b="1">
                <a:solidFill>
                  <a:srgbClr val="C5EF69"/>
                </a:solidFill>
                <a:latin typeface="Arial"/>
                <a:ea typeface="Arial"/>
                <a:cs typeface="Arial"/>
              </a:rPr>
              <a:t>Benchback</a:t>
            </a:r>
          </a:p>
        </p:txBody>
      </p:sp>
    </p:spTree>
    <p:extLst>
      <p:ext uri="{BB962C8B-B14F-4D97-AF65-F5344CB8AC3E}">
        <p14:creationId xmlns:p14="http://schemas.microsoft.com/office/powerpoint/2010/main" val="661861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2026-09-17T04:36:13.4310000Z</dcterms:created>
  <dcterms:modified xsi:type="dcterms:W3CDTF">2026-09-17T04:36:13.4310000Z</dcterms:modified>
</coreProperties>
</file>